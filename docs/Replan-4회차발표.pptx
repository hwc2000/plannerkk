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개발 방향" id="{13F650BF-E920-A2FA-50C2-24B6B92C1BDA}">
          <p14:sldIdLst>
            <p14:sldId id="256"/>
            <p14:sldId id="257"/>
            <p14:sldId id="258"/>
            <p14:sldId id="259"/>
            <p14:sldId id="260"/>
          </p14:sldIdLst>
        </p14:section>
        <p14:section name="UI 설계 시연" id="{A6FA2AC7-C86A-72F8-93FF-80C49AF8BD09}">
          <p14:sldIdLst>
            <p14:sldId id="261"/>
            <p14:sldId id="263"/>
            <p14:sldId id="262"/>
            <p14:sldId id="264"/>
            <p14:sldId id="265"/>
            <p14:sldId id="266"/>
          </p14:sldIdLst>
        </p14:section>
        <p14:section name="정리" id="{1740C032-419C-6AD3-5E36-484F91DC625E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678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4차 발표는 서비스 소개를 반복하지 않고, 이번에 구체화한 개인화 방향과 체크인 흐름을 보여 드립니다.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특정 과목을 잘 가르치는 AI가 아니라, 사용자에게 맞는 실행 방법을 지원하는 플래너입니다. 볼 수 없는 범위의 세부 내용은 지어내지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프로젝트 기록이 모두 자동으로 공통 성향이 되지는 않습니다. 반복해서 확인된 것만 옮깁니다.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체크인 답변은 모두 선택입니다. 답한 내용만 다음 대화와 계획의 참고 정보가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사용자를 성향이 확실히 다르게 답하게 했습니다. 시간대나 하루 시간은 묻지 않고, 기록과 매주 고르는 시간으로 대신합니다.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계정에 같은 프로젝트, 같은 요청을 넣었습니다. 목표는 같지만 A는 긴 덩어리, B는 짧은 작업과 시작 행동으로 나왔습니다.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답하면 AI가 정해진 칸만 정리하고, 사용자가 확인한 뒤에만 저장합니다. 이 부분은 다음 발표에서 시연합니다.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완성된 자동 학습 서비스가 아니라, 기본 연결을 구현한 중간 단계입니다.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691640"/>
            <a:ext cx="65836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ko-KR" altLang="en-US" sz="1400" b="1" dirty="0">
                <a:solidFill>
                  <a:schemeClr val="accent2"/>
                </a:solidFill>
              </a:defRPr>
            </a:lvl1pPr>
          </a:lstStyle>
          <a:p>
            <a:pPr marL="0" indent="0" eaLnBrk="0">
              <a:buNone/>
            </a:pPr>
            <a:endParaRPr lang="ko-KR" alt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2103120"/>
            <a:ext cx="667512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 eaLnBrk="0">
              <a:buNone/>
            </a:pPr>
            <a:endParaRPr lang="ko-KR" alt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397764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ko-KR" altLang="en-US" sz="1600" dirty="0">
                <a:solidFill>
                  <a:schemeClr val="bg2"/>
                </a:solidFill>
              </a:defRPr>
            </a:lvl1pPr>
          </a:lstStyle>
          <a:p>
            <a:pPr marL="0" indent="0" eaLnBrk="0">
              <a:buNone/>
            </a:pPr>
            <a:endParaRPr lang="ko-KR" alt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ko-KR" altLang="en-US" sz="1200" b="1" dirty="0">
                <a:solidFill>
                  <a:schemeClr val="accent2"/>
                </a:solidFill>
              </a:defRPr>
            </a:lvl1pPr>
          </a:lstStyle>
          <a:p>
            <a:pPr marL="0" indent="0" eaLnBrk="0">
              <a:buNone/>
            </a:pPr>
            <a:endParaRPr lang="ko-KR" alt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ko-KR" altLang="en-US" sz="3000" b="1" dirty="0">
                <a:solidFill>
                  <a:schemeClr val="bg1"/>
                </a:solidFill>
              </a:defRPr>
            </a:lvl1pPr>
          </a:lstStyle>
          <a:p>
            <a:pPr marL="0" indent="0" algn="l" eaLnBrk="0">
              <a:buNone/>
            </a:pPr>
            <a:endParaRPr lang="ko-KR" alt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Re:plan · 4차 개발 진행 발표</a:t>
            </a:r>
            <a:endParaRPr lang="ko-KR" alt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 alt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5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5" Type="http://schemas.openxmlformats.org/officeDocument/2006/relationships/image" Target="../media/image12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731520" y="16916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400" b="1" dirty="0">
                <a:solidFill>
                  <a:schemeClr val="accent2"/>
                </a:solidFill>
              </a:rPr>
              <a:t>Re:plan · 4차 개발 진행 발표</a:t>
            </a:r>
            <a:endParaRPr lang="ko-KR" altLang="en-US" sz="14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731520" y="2103120"/>
            <a:ext cx="6675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eaLnBrk="0">
              <a:buNone/>
            </a:pPr>
            <a:r>
              <a:rPr lang="ko-KR" altLang="en-US" dirty="0"/>
              <a:t>사용자가 어떤 작업 방식을 가지고 있는지 체크</a:t>
            </a:r>
            <a:endParaRPr lang="ko-KR" altLang="en-US" sz="40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731520" y="3977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600" dirty="0">
                <a:solidFill>
                  <a:schemeClr val="bg2"/>
                </a:solidFill>
              </a:rPr>
              <a:t>플랜을 이행함에 </a:t>
            </a:r>
            <a:r>
              <a:rPr lang="ko-KR" altLang="en-US" dirty="0"/>
              <a:t>효율적으로</a:t>
            </a:r>
            <a:r>
              <a:rPr lang="ko-KR" altLang="en-US" sz="1600" dirty="0">
                <a:solidFill>
                  <a:schemeClr val="bg2"/>
                </a:solidFill>
              </a:rPr>
              <a:t> 알아가는 플래너</a:t>
            </a:r>
            <a:endParaRPr lang="ko-KR" alt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760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accent6"/>
                </a:solidFill>
              </a:rPr>
              <a:t>2026.10.28 </a:t>
            </a:r>
            <a:endParaRPr lang="ko-KR" altLang="en-US" sz="1200" dirty="0"/>
          </a:p>
        </p:txBody>
      </p:sp>
      <p:sp>
        <p:nvSpPr>
          <p:cNvPr id="6" name="맞추는 것 패널"/>
          <p:cNvSpPr/>
          <p:nvPr/>
        </p:nvSpPr>
        <p:spPr>
          <a:xfrm>
            <a:off x="7818120" y="1463040"/>
            <a:ext cx="3822192" cy="4023360"/>
          </a:xfrm>
          <a:prstGeom prst="roundRect">
            <a:avLst>
              <a:gd name="adj" fmla="val 2871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813816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b="1" dirty="0">
                <a:solidFill>
                  <a:schemeClr val="bg2"/>
                </a:solidFill>
              </a:rPr>
              <a:t>이번에 맞추는 것</a:t>
            </a:r>
            <a:endParaRPr lang="ko-KR" alt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2240280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3316" y="2345436"/>
            <a:ext cx="210312" cy="21031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8741664" y="2221992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집중하기 편한 작업 길이</a:t>
            </a:r>
            <a:endParaRPr lang="ko-KR" alt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138160" y="3017520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3316" y="3122676"/>
            <a:ext cx="210312" cy="2103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741664" y="2999232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시작하기 쉬운 방식</a:t>
            </a:r>
            <a:endParaRPr lang="ko-KR" alt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8138160" y="3794760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3316" y="3899916"/>
            <a:ext cx="210312" cy="21031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741664" y="3776472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잘 맞는 장소와 분위기</a:t>
            </a:r>
            <a:endParaRPr lang="ko-KR" alt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8138160" y="4572000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43316" y="4677156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741664" y="4553712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편한 대화 말투</a:t>
            </a:r>
            <a:endParaRPr lang="ko-KR" alt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b="1" dirty="0">
                <a:solidFill>
                  <a:schemeClr val="accent2"/>
                </a:solidFill>
              </a:rPr>
              <a:t>01 · 이번 개발의 초점</a:t>
            </a:r>
            <a:endParaRPr lang="ko-KR" alt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bg1"/>
                </a:solidFill>
              </a:rPr>
              <a:t>세부 내용이 아니라, 실행 방법을 맞춥니다</a:t>
            </a:r>
            <a:endParaRPr lang="ko-KR" altLang="en-US" sz="3000" dirty="0"/>
          </a:p>
        </p:txBody>
      </p:sp>
      <p:sp>
        <p:nvSpPr>
          <p:cNvPr id="4" name="지양 카드"/>
          <p:cNvSpPr/>
          <p:nvPr/>
        </p:nvSpPr>
        <p:spPr>
          <a:xfrm>
            <a:off x="548640" y="1645920"/>
            <a:ext cx="5120640" cy="365760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100" b="1" dirty="0">
                <a:solidFill>
                  <a:schemeClr val="bg2"/>
                </a:solidFill>
              </a:rPr>
              <a:t>지양</a:t>
            </a:r>
            <a:endParaRPr lang="ko-KR" alt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2860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800" b="1" dirty="0">
                <a:solidFill>
                  <a:schemeClr val="bg1"/>
                </a:solidFill>
              </a:rPr>
              <a:t>내용을 지나치게 세분화하는 계획</a:t>
            </a:r>
            <a:endParaRPr lang="ko-KR" alt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743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400" dirty="0">
                <a:solidFill>
                  <a:schemeClr val="bg2"/>
                </a:solidFill>
              </a:rPr>
              <a:t>사용자가 말하지 않은 세부 주제까지 AI가 정해 줍니다.</a:t>
            </a:r>
            <a:endParaRPr lang="ko-KR" altLang="en-US" sz="1400" dirty="0"/>
          </a:p>
        </p:txBody>
      </p:sp>
      <p:sp>
        <p:nvSpPr>
          <p:cNvPr id="9" name="지양 예시"/>
          <p:cNvSpPr/>
          <p:nvPr/>
        </p:nvSpPr>
        <p:spPr>
          <a:xfrm>
            <a:off x="822960" y="3291840"/>
            <a:ext cx="4572000" cy="1005840"/>
          </a:xfrm>
          <a:prstGeom prst="roundRect">
            <a:avLst>
              <a:gd name="adj" fmla="val 10909"/>
            </a:avLst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93008"/>
            <a:ext cx="274320" cy="274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417320" y="3456432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bg2"/>
                </a:solidFill>
              </a:rPr>
              <a:t>정처기 실기 — C 포인터·이중 포인터·연결 리스트 결합 문제 1시간</a:t>
            </a:r>
            <a:endParaRPr lang="ko-KR" alt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45262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accent6"/>
                </a:solidFill>
              </a:rPr>
              <a:t>구체적인 범위를 주지 않는 이상</a:t>
            </a:r>
            <a:r>
              <a:rPr lang="en-US" altLang="ko-KR" sz="1200" dirty="0">
                <a:solidFill>
                  <a:schemeClr val="accent6"/>
                </a:solidFill>
              </a:rPr>
              <a:t>, ai</a:t>
            </a:r>
            <a:r>
              <a:rPr lang="ko-KR" altLang="en-US" sz="1200" dirty="0">
                <a:solidFill>
                  <a:schemeClr val="accent6"/>
                </a:solidFill>
              </a:rPr>
              <a:t>가 자세히 플랜을 적어줄 수 없다</a:t>
            </a:r>
            <a:r>
              <a:rPr lang="en-US" altLang="ko-KR" sz="1200" dirty="0">
                <a:solidFill>
                  <a:schemeClr val="accent6"/>
                </a:solidFill>
              </a:rPr>
              <a:t>. </a:t>
            </a:r>
            <a:r>
              <a:rPr lang="ko-KR" altLang="en-US" sz="1200" dirty="0">
                <a:solidFill>
                  <a:schemeClr val="accent6"/>
                </a:solidFill>
              </a:rPr>
              <a:t>그렇다고 모든 범위를 주기에는 현실적으로 불가능하다</a:t>
            </a:r>
            <a:endParaRPr lang="ko-KR" altLang="en-US" sz="1200" dirty="0"/>
          </a:p>
        </p:txBody>
      </p:sp>
      <p:sp>
        <p:nvSpPr>
          <p:cNvPr id="13" name="지향 카드"/>
          <p:cNvSpPr/>
          <p:nvPr/>
        </p:nvSpPr>
        <p:spPr>
          <a:xfrm>
            <a:off x="5897880" y="1645920"/>
            <a:ext cx="5742432" cy="3657600"/>
          </a:xfrm>
          <a:prstGeom prst="roundRect">
            <a:avLst>
              <a:gd name="adj" fmla="val 3000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6172200" y="1874520"/>
            <a:ext cx="73152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 txBox="1"/>
          <p:nvPr/>
        </p:nvSpPr>
        <p:spPr>
          <a:xfrm>
            <a:off x="6172200" y="1874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지향</a:t>
            </a:r>
            <a:endParaRPr lang="ko-KR" alt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172200" y="22860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800" b="1" dirty="0">
                <a:solidFill>
                  <a:schemeClr val="bg1"/>
                </a:solidFill>
              </a:rPr>
              <a:t>사용자에게 맞는 실행 방법</a:t>
            </a:r>
            <a:endParaRPr lang="ko-KR" alt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172200" y="2834640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356" y="2939796"/>
            <a:ext cx="210312" cy="21031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720840" y="28346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집중하기 편한 작업 길이</a:t>
            </a:r>
            <a:endParaRPr lang="ko-KR" alt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8869680" y="2834640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4836" y="2939796"/>
            <a:ext cx="210312" cy="21031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9418320" y="283464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시작하기 쉬운 방식</a:t>
            </a:r>
            <a:endParaRPr lang="ko-KR" alt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172200" y="3474720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7356" y="3579876"/>
            <a:ext cx="210312" cy="21031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720840" y="347472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잘 맞는 장소와 분위기</a:t>
            </a:r>
            <a:endParaRPr lang="ko-KR" altLang="en-US" sz="1300" dirty="0"/>
          </a:p>
        </p:txBody>
      </p:sp>
      <p:sp>
        <p:nvSpPr>
          <p:cNvPr id="26" name="Shape 20"/>
          <p:cNvSpPr/>
          <p:nvPr/>
        </p:nvSpPr>
        <p:spPr>
          <a:xfrm>
            <a:off x="8869680" y="3474720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74836" y="3579876"/>
            <a:ext cx="210312" cy="21031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9418320" y="3474720"/>
            <a:ext cx="2103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b="1" dirty="0">
                <a:solidFill>
                  <a:schemeClr val="bg1"/>
                </a:solidFill>
              </a:rPr>
              <a:t>편한 대화 말투</a:t>
            </a:r>
            <a:endParaRPr lang="ko-KR" altLang="en-US" sz="1300" dirty="0"/>
          </a:p>
        </p:txBody>
      </p:sp>
      <p:sp>
        <p:nvSpPr>
          <p:cNvPr id="29" name="지향 예시"/>
          <p:cNvSpPr/>
          <p:nvPr/>
        </p:nvSpPr>
        <p:spPr>
          <a:xfrm>
            <a:off x="6172200" y="4251960"/>
            <a:ext cx="5212080" cy="822960"/>
          </a:xfrm>
          <a:prstGeom prst="roundRect">
            <a:avLst>
              <a:gd name="adj" fmla="val 13333"/>
            </a:avLst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4498848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766560" y="444398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bg1"/>
                </a:solidFill>
              </a:rPr>
              <a:t>정처기 실기 문제 풀이 90분 — 작업은 ‘과목 + 하는 방식’까지만</a:t>
            </a:r>
            <a:endParaRPr lang="ko-KR" altLang="en-US" sz="1300" dirty="0"/>
          </a:p>
        </p:txBody>
      </p:sp>
      <p:sp>
        <p:nvSpPr>
          <p:cNvPr id="32" name="Text 24"/>
          <p:cNvSpPr txBox="1"/>
          <p:nvPr/>
        </p:nvSpPr>
        <p:spPr>
          <a:xfrm>
            <a:off x="548640" y="55778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000" b="1" dirty="0">
                <a:solidFill>
                  <a:schemeClr val="bg1"/>
                </a:solidFill>
              </a:rPr>
              <a:t>같은 목표라도, 실행하기 편한 방법은 </a:t>
            </a:r>
            <a:r>
              <a:rPr lang="ko-KR" altLang="en-US" sz="2000" b="1" dirty="0">
                <a:solidFill>
                  <a:schemeClr val="accent2"/>
                </a:solidFill>
              </a:rPr>
              <a:t>사람마다 다릅니다</a:t>
            </a:r>
            <a:endParaRPr lang="ko-KR" altLang="en-US" sz="20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2</a:t>
            </a:fld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b="1" dirty="0">
                <a:solidFill>
                  <a:schemeClr val="accent2"/>
                </a:solidFill>
              </a:rPr>
              <a:t>02 · 사용자 정보 구조</a:t>
            </a:r>
            <a:endParaRPr lang="ko-KR" alt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bg1"/>
                </a:solidFill>
              </a:rPr>
              <a:t>공통 사용자 정보와 프로젝트 맥락의 분리</a:t>
            </a:r>
            <a:endParaRPr lang="ko-KR" altLang="en-US" sz="3000" dirty="0"/>
          </a:p>
        </p:txBody>
      </p:sp>
      <p:sp>
        <p:nvSpPr>
          <p:cNvPr id="4" name="1층 · 공통"/>
          <p:cNvSpPr/>
          <p:nvPr/>
        </p:nvSpPr>
        <p:spPr>
          <a:xfrm>
            <a:off x="548640" y="1645920"/>
            <a:ext cx="598932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23444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1층 · 공통</a:t>
            </a:r>
            <a:endParaRPr lang="ko-KR" alt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84708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모든 프로젝트가 함께 쓰는 정보</a:t>
            </a:r>
            <a:endParaRPr lang="ko-KR" altLang="en-US" sz="1500" dirty="0"/>
          </a:p>
        </p:txBody>
      </p:sp>
      <p:sp>
        <p:nvSpPr>
          <p:cNvPr id="8" name="설문 성향"/>
          <p:cNvSpPr/>
          <p:nvPr/>
        </p:nvSpPr>
        <p:spPr>
          <a:xfrm>
            <a:off x="822960" y="2423160"/>
            <a:ext cx="1069848" cy="640080"/>
          </a:xfrm>
          <a:prstGeom prst="roundRect">
            <a:avLst>
              <a:gd name="adj" fmla="val 17143"/>
            </a:avLst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822960" y="242316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설문 성향</a:t>
            </a:r>
            <a:endParaRPr lang="ko-KR" altLang="en-US" sz="1200" dirty="0"/>
          </a:p>
        </p:txBody>
      </p:sp>
      <p:sp>
        <p:nvSpPr>
          <p:cNvPr id="10" name="직접 말한 선호(말투)"/>
          <p:cNvSpPr/>
          <p:nvPr/>
        </p:nvSpPr>
        <p:spPr>
          <a:xfrm>
            <a:off x="2029968" y="2423160"/>
            <a:ext cx="2029968" cy="640080"/>
          </a:xfrm>
          <a:prstGeom prst="roundRect">
            <a:avLst>
              <a:gd name="adj" fmla="val 17143"/>
            </a:avLst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2029968" y="242316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직접 말한 선호(말투)</a:t>
            </a:r>
            <a:endParaRPr lang="ko-KR" altLang="en-US" sz="1200" dirty="0"/>
          </a:p>
        </p:txBody>
      </p:sp>
      <p:sp>
        <p:nvSpPr>
          <p:cNvPr id="12" name="반복해 확인된 습관"/>
          <p:cNvSpPr/>
          <p:nvPr/>
        </p:nvSpPr>
        <p:spPr>
          <a:xfrm>
            <a:off x="4197096" y="2423160"/>
            <a:ext cx="1755648" cy="640080"/>
          </a:xfrm>
          <a:prstGeom prst="roundRect">
            <a:avLst>
              <a:gd name="adj" fmla="val 17143"/>
            </a:avLst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4197096" y="242316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반복해 확인된 습관</a:t>
            </a:r>
            <a:endParaRPr lang="ko-KR" altLang="en-US" sz="1200" dirty="0"/>
          </a:p>
        </p:txBody>
      </p:sp>
      <p:sp>
        <p:nvSpPr>
          <p:cNvPr id="14" name="2층 · 프로젝트"/>
          <p:cNvSpPr/>
          <p:nvPr/>
        </p:nvSpPr>
        <p:spPr>
          <a:xfrm>
            <a:off x="548640" y="3566160"/>
            <a:ext cx="5989320" cy="1691640"/>
          </a:xfrm>
          <a:prstGeom prst="roundRect">
            <a:avLst>
              <a:gd name="adj" fmla="val 6486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822960" y="3794760"/>
            <a:ext cx="1234440" cy="27432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822960" y="37947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100" b="1" dirty="0">
                <a:solidFill>
                  <a:schemeClr val="bg2"/>
                </a:solidFill>
              </a:rPr>
              <a:t>2층 · 프로젝트</a:t>
            </a:r>
            <a:endParaRPr lang="ko-KR" alt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3767328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이 프로젝트에만 쓰는 맥락</a:t>
            </a:r>
            <a:endParaRPr lang="ko-KR" altLang="en-US" sz="1500" dirty="0"/>
          </a:p>
        </p:txBody>
      </p:sp>
      <p:sp>
        <p:nvSpPr>
          <p:cNvPr id="18" name="목표·기간·계획"/>
          <p:cNvSpPr/>
          <p:nvPr/>
        </p:nvSpPr>
        <p:spPr>
          <a:xfrm>
            <a:off x="822960" y="4343400"/>
            <a:ext cx="1481328" cy="640080"/>
          </a:xfrm>
          <a:prstGeom prst="roundRect">
            <a:avLst>
              <a:gd name="adj" fmla="val 17143"/>
            </a:avLst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822960" y="4343400"/>
            <a:ext cx="148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목표·기간·계획</a:t>
            </a:r>
            <a:endParaRPr lang="ko-KR" altLang="en-US" sz="1200" dirty="0"/>
          </a:p>
        </p:txBody>
      </p:sp>
      <p:sp>
        <p:nvSpPr>
          <p:cNvPr id="20" name="실행 기록"/>
          <p:cNvSpPr/>
          <p:nvPr/>
        </p:nvSpPr>
        <p:spPr>
          <a:xfrm>
            <a:off x="2441448" y="4343400"/>
            <a:ext cx="1069848" cy="640080"/>
          </a:xfrm>
          <a:prstGeom prst="roundRect">
            <a:avLst>
              <a:gd name="adj" fmla="val 17143"/>
            </a:avLst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2441448" y="4343400"/>
            <a:ext cx="1069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실행 기록</a:t>
            </a:r>
            <a:endParaRPr lang="ko-KR" altLang="en-US" sz="1200" dirty="0"/>
          </a:p>
        </p:txBody>
      </p:sp>
      <p:sp>
        <p:nvSpPr>
          <p:cNvPr id="22" name="분량·시간 피드백"/>
          <p:cNvSpPr/>
          <p:nvPr/>
        </p:nvSpPr>
        <p:spPr>
          <a:xfrm>
            <a:off x="3648456" y="4343400"/>
            <a:ext cx="1618488" cy="640080"/>
          </a:xfrm>
          <a:prstGeom prst="roundRect">
            <a:avLst>
              <a:gd name="adj" fmla="val 17143"/>
            </a:avLst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 txBox="1"/>
          <p:nvPr/>
        </p:nvSpPr>
        <p:spPr>
          <a:xfrm>
            <a:off x="3648456" y="4343400"/>
            <a:ext cx="1618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분량·시간 피드백</a:t>
            </a:r>
            <a:endParaRPr lang="ko-KR" altLang="en-US" sz="120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127248"/>
            <a:ext cx="548640" cy="548640"/>
          </a:xfrm>
          <a:prstGeom prst="rect">
            <a:avLst/>
          </a:prstGeom>
        </p:spPr>
      </p:pic>
      <p:sp>
        <p:nvSpPr>
          <p:cNvPr id="25" name="결과 카드"/>
          <p:cNvSpPr/>
          <p:nvPr/>
        </p:nvSpPr>
        <p:spPr>
          <a:xfrm>
            <a:off x="7543800" y="2240280"/>
            <a:ext cx="4096512" cy="2377440"/>
          </a:xfrm>
          <a:prstGeom prst="roundRect">
            <a:avLst>
              <a:gd name="adj" fmla="val 4615"/>
            </a:avLst>
          </a:prstGeom>
          <a:solidFill>
            <a:schemeClr val="accent1">
              <a:alpha val="22000"/>
            </a:schemeClr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3"/>
          <p:cNvSpPr/>
          <p:nvPr/>
        </p:nvSpPr>
        <p:spPr>
          <a:xfrm>
            <a:off x="7818120" y="2514600"/>
            <a:ext cx="502920" cy="50292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3850" y="2640330"/>
            <a:ext cx="251460" cy="251460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7818120" y="3154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800" b="1" dirty="0">
                <a:solidFill>
                  <a:schemeClr val="bg1"/>
                </a:solidFill>
              </a:rPr>
              <a:t>지금 프로젝트에 맞는 계획</a:t>
            </a:r>
            <a:endParaRPr lang="ko-KR" altLang="en-US" sz="1800" dirty="0"/>
          </a:p>
        </p:txBody>
      </p:sp>
      <p:sp>
        <p:nvSpPr>
          <p:cNvPr id="29" name="Text 25"/>
          <p:cNvSpPr txBox="1"/>
          <p:nvPr/>
        </p:nvSpPr>
        <p:spPr>
          <a:xfrm>
            <a:off x="7707923" y="3807655"/>
            <a:ext cx="3722077" cy="6271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300" dirty="0" err="1">
                <a:solidFill>
                  <a:schemeClr val="bg1"/>
                </a:solidFill>
              </a:rPr>
              <a:t>AI가</a:t>
            </a:r>
            <a:r>
              <a:rPr lang="ko-KR" altLang="en-US" sz="1300" dirty="0">
                <a:solidFill>
                  <a:schemeClr val="bg1"/>
                </a:solidFill>
              </a:rPr>
              <a:t> 요청마다 함께 넘기는 정보의 범위가 다르다.</a:t>
            </a:r>
            <a:endParaRPr lang="ko-KR" altLang="en-US" sz="1300" dirty="0"/>
          </a:p>
        </p:txBody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559552"/>
            <a:ext cx="274320" cy="274320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960120" y="5486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dirty="0">
                <a:solidFill>
                  <a:schemeClr val="bg2"/>
                </a:solidFill>
              </a:rPr>
              <a:t>프로젝트를 끝내면 그 프로젝트에서 반복해 확인된 습관만 공통 </a:t>
            </a:r>
            <a:r>
              <a:rPr lang="en-US" altLang="ko-KR" sz="1300" dirty="0">
                <a:solidFill>
                  <a:schemeClr val="bg2"/>
                </a:solidFill>
              </a:rPr>
              <a:t>layer</a:t>
            </a:r>
            <a:r>
              <a:rPr lang="ko-KR" altLang="en-US" sz="1300" dirty="0">
                <a:solidFill>
                  <a:schemeClr val="bg2"/>
                </a:solidFill>
              </a:rPr>
              <a:t>에 옮기고, 분량 피드백 같은 일시적인 의견은 함께 정리한다.</a:t>
            </a:r>
            <a:endParaRPr lang="ko-KR" altLang="en-US" sz="13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3</a:t>
            </a:fld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b="1" dirty="0">
                <a:solidFill>
                  <a:schemeClr val="accent2"/>
                </a:solidFill>
              </a:rPr>
              <a:t>03 · 사용자를 알아가는 방법</a:t>
            </a:r>
            <a:endParaRPr lang="ko-KR" alt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bg1"/>
                </a:solidFill>
              </a:rPr>
              <a:t>설문으로 시작하고, 체크인으로 더 알아가기</a:t>
            </a:r>
            <a:endParaRPr lang="ko-KR" altLang="en-US" sz="3000" dirty="0"/>
          </a:p>
        </p:txBody>
      </p:sp>
      <p:sp>
        <p:nvSpPr>
          <p:cNvPr id="4" name="온보딩"/>
          <p:cNvSpPr/>
          <p:nvPr/>
        </p:nvSpPr>
        <p:spPr>
          <a:xfrm>
            <a:off x="548640" y="164592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1115568" y="1810512"/>
            <a:ext cx="457200" cy="45720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868" y="1924812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23591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온보딩</a:t>
            </a:r>
            <a:endParaRPr lang="ko-KR" alt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51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설문 4단계</a:t>
            </a:r>
            <a:endParaRPr lang="ko-KR" alt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4560" y="2176272"/>
            <a:ext cx="201168" cy="201168"/>
          </a:xfrm>
          <a:prstGeom prst="rect">
            <a:avLst/>
          </a:prstGeom>
        </p:spPr>
      </p:pic>
      <p:sp>
        <p:nvSpPr>
          <p:cNvPr id="10" name="맞춤 계획"/>
          <p:cNvSpPr/>
          <p:nvPr/>
        </p:nvSpPr>
        <p:spPr>
          <a:xfrm>
            <a:off x="2441448" y="164592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7"/>
          <p:cNvSpPr/>
          <p:nvPr/>
        </p:nvSpPr>
        <p:spPr>
          <a:xfrm>
            <a:off x="3008376" y="1810512"/>
            <a:ext cx="457200" cy="45720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2676" y="1924812"/>
            <a:ext cx="228600" cy="2286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441448" y="23591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맞춤 계획</a:t>
            </a:r>
            <a:endParaRPr lang="ko-KR" alt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2441448" y="2651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작업 길이·시작 행동</a:t>
            </a:r>
            <a:endParaRPr lang="ko-KR" alt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7368" y="2176272"/>
            <a:ext cx="201168" cy="201168"/>
          </a:xfrm>
          <a:prstGeom prst="rect">
            <a:avLst/>
          </a:prstGeom>
        </p:spPr>
      </p:pic>
      <p:sp>
        <p:nvSpPr>
          <p:cNvPr id="16" name="실행"/>
          <p:cNvSpPr/>
          <p:nvPr/>
        </p:nvSpPr>
        <p:spPr>
          <a:xfrm>
            <a:off x="4334256" y="164592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1"/>
          <p:cNvSpPr/>
          <p:nvPr/>
        </p:nvSpPr>
        <p:spPr>
          <a:xfrm>
            <a:off x="4901184" y="1810512"/>
            <a:ext cx="457200" cy="45720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5484" y="1924812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4334256" y="23591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실행</a:t>
            </a:r>
            <a:endParaRPr lang="ko-KR" altLang="en-US" sz="1400" dirty="0"/>
          </a:p>
        </p:txBody>
      </p:sp>
      <p:sp>
        <p:nvSpPr>
          <p:cNvPr id="20" name="Text 13"/>
          <p:cNvSpPr txBox="1"/>
          <p:nvPr/>
        </p:nvSpPr>
        <p:spPr>
          <a:xfrm>
            <a:off x="4334256" y="2651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체크·기록</a:t>
            </a:r>
            <a:endParaRPr lang="ko-KR" altLang="en-US" sz="11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2176272"/>
            <a:ext cx="201168" cy="201168"/>
          </a:xfrm>
          <a:prstGeom prst="rect">
            <a:avLst/>
          </a:prstGeom>
        </p:spPr>
      </p:pic>
      <p:sp>
        <p:nvSpPr>
          <p:cNvPr id="22" name="체크인"/>
          <p:cNvSpPr/>
          <p:nvPr/>
        </p:nvSpPr>
        <p:spPr>
          <a:xfrm>
            <a:off x="6227064" y="164592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5"/>
          <p:cNvSpPr/>
          <p:nvPr/>
        </p:nvSpPr>
        <p:spPr>
          <a:xfrm>
            <a:off x="6793992" y="1810512"/>
            <a:ext cx="457200" cy="4572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08292" y="1924812"/>
            <a:ext cx="228600" cy="2286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227064" y="23591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체크인</a:t>
            </a:r>
            <a:endParaRPr lang="ko-KR" altLang="en-US" sz="1400" dirty="0"/>
          </a:p>
        </p:txBody>
      </p:sp>
      <p:sp>
        <p:nvSpPr>
          <p:cNvPr id="26" name="Text 17"/>
          <p:cNvSpPr txBox="1"/>
          <p:nvPr/>
        </p:nvSpPr>
        <p:spPr>
          <a:xfrm>
            <a:off x="6227064" y="2651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대화로 묻기</a:t>
            </a:r>
            <a:endParaRPr lang="ko-KR" altLang="en-US" sz="11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4" y="2176272"/>
            <a:ext cx="201168" cy="201168"/>
          </a:xfrm>
          <a:prstGeom prst="rect">
            <a:avLst/>
          </a:prstGeom>
        </p:spPr>
      </p:pic>
      <p:sp>
        <p:nvSpPr>
          <p:cNvPr id="28" name="정보 누적"/>
          <p:cNvSpPr/>
          <p:nvPr/>
        </p:nvSpPr>
        <p:spPr>
          <a:xfrm>
            <a:off x="8119872" y="164592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19"/>
          <p:cNvSpPr/>
          <p:nvPr/>
        </p:nvSpPr>
        <p:spPr>
          <a:xfrm>
            <a:off x="8686800" y="1810512"/>
            <a:ext cx="457200" cy="45720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01100" y="1924812"/>
            <a:ext cx="228600" cy="22860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8119872" y="23591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정보 누적</a:t>
            </a:r>
            <a:endParaRPr lang="ko-KR" altLang="en-US" sz="1400" dirty="0"/>
          </a:p>
        </p:txBody>
      </p:sp>
      <p:sp>
        <p:nvSpPr>
          <p:cNvPr id="32" name="Text 21"/>
          <p:cNvSpPr txBox="1"/>
          <p:nvPr/>
        </p:nvSpPr>
        <p:spPr>
          <a:xfrm>
            <a:off x="8119872" y="2651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선호와 관찰 구분</a:t>
            </a:r>
            <a:endParaRPr lang="ko-KR" altLang="en-US" sz="11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65792" y="2176272"/>
            <a:ext cx="201168" cy="201168"/>
          </a:xfrm>
          <a:prstGeom prst="rect">
            <a:avLst/>
          </a:prstGeom>
        </p:spPr>
      </p:pic>
      <p:sp>
        <p:nvSpPr>
          <p:cNvPr id="34" name="다음 계획"/>
          <p:cNvSpPr/>
          <p:nvPr/>
        </p:nvSpPr>
        <p:spPr>
          <a:xfrm>
            <a:off x="10012680" y="1645920"/>
            <a:ext cx="160020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3"/>
          <p:cNvSpPr/>
          <p:nvPr/>
        </p:nvSpPr>
        <p:spPr>
          <a:xfrm>
            <a:off x="10579608" y="1810512"/>
            <a:ext cx="457200" cy="457200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693908" y="1924812"/>
            <a:ext cx="228600" cy="228600"/>
          </a:xfrm>
          <a:prstGeom prst="rect">
            <a:avLst/>
          </a:prstGeom>
        </p:spPr>
      </p:pic>
      <p:sp>
        <p:nvSpPr>
          <p:cNvPr id="37" name="Text 24"/>
          <p:cNvSpPr txBox="1"/>
          <p:nvPr/>
        </p:nvSpPr>
        <p:spPr>
          <a:xfrm>
            <a:off x="10012680" y="2359152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0">
              <a:buNone/>
            </a:pPr>
            <a:r>
              <a:rPr lang="ko-KR" altLang="en-US" sz="1400" b="1" dirty="0">
                <a:solidFill>
                  <a:schemeClr val="bg1"/>
                </a:solidFill>
              </a:rPr>
              <a:t>다음 계획</a:t>
            </a:r>
            <a:endParaRPr lang="ko-KR" altLang="en-US" sz="1400" dirty="0"/>
          </a:p>
        </p:txBody>
      </p:sp>
      <p:sp>
        <p:nvSpPr>
          <p:cNvPr id="38" name="Text 25"/>
          <p:cNvSpPr txBox="1"/>
          <p:nvPr/>
        </p:nvSpPr>
        <p:spPr>
          <a:xfrm>
            <a:off x="10012680" y="26517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0">
              <a:buNone/>
            </a:pPr>
            <a:r>
              <a:rPr lang="ko-KR" altLang="en-US" sz="1100" dirty="0">
                <a:solidFill>
                  <a:schemeClr val="bg2"/>
                </a:solidFill>
              </a:rPr>
              <a:t>참고 정보로 반영</a:t>
            </a:r>
            <a:endParaRPr lang="ko-KR" altLang="en-US" sz="1100" dirty="0"/>
          </a:p>
        </p:txBody>
      </p:sp>
      <p:sp>
        <p:nvSpPr>
          <p:cNvPr id="39" name="온보딩 설명"/>
          <p:cNvSpPr/>
          <p:nvPr/>
        </p:nvSpPr>
        <p:spPr>
          <a:xfrm>
            <a:off x="548640" y="3246120"/>
            <a:ext cx="544068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27"/>
          <p:cNvSpPr txBox="1"/>
          <p:nvPr/>
        </p:nvSpPr>
        <p:spPr>
          <a:xfrm>
            <a:off x="822960" y="34290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온보딩</a:t>
            </a:r>
            <a:endParaRPr lang="ko-KR" altLang="en-US" sz="1500" dirty="0"/>
          </a:p>
        </p:txBody>
      </p:sp>
      <p:sp>
        <p:nvSpPr>
          <p:cNvPr id="41" name="Text 28"/>
          <p:cNvSpPr txBox="1"/>
          <p:nvPr/>
        </p:nvSpPr>
        <p:spPr>
          <a:xfrm>
            <a:off x="822960" y="38404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en-US" altLang="ko-KR" sz="1300" dirty="0">
                <a:solidFill>
                  <a:schemeClr val="bg2"/>
                </a:solidFill>
              </a:rPr>
              <a:t>-  </a:t>
            </a:r>
            <a:r>
              <a:rPr lang="ko-KR" altLang="en-US" sz="1300" dirty="0">
                <a:solidFill>
                  <a:schemeClr val="bg2"/>
                </a:solidFill>
              </a:rPr>
              <a:t>정보가 없는 첫 사용자를 위한 최소한의 시작 정보.</a:t>
            </a:r>
            <a:endParaRPr lang="en-US" altLang="ko-KR" sz="1300" dirty="0">
              <a:solidFill>
                <a:schemeClr val="bg2"/>
              </a:solidFill>
            </a:endParaRPr>
          </a:p>
          <a:p>
            <a:pPr marL="0" indent="0" eaLnBrk="0">
              <a:buNone/>
            </a:pPr>
            <a:r>
              <a:rPr lang="ko-KR" altLang="en-US" sz="1300" dirty="0">
                <a:solidFill>
                  <a:schemeClr val="bg2"/>
                </a:solidFill>
              </a:rPr>
              <a:t> </a:t>
            </a:r>
            <a:endParaRPr lang="en-US" altLang="ko-KR" sz="1300" dirty="0">
              <a:solidFill>
                <a:schemeClr val="bg2"/>
              </a:solidFill>
            </a:endParaRPr>
          </a:p>
          <a:p>
            <a:pPr marL="0" indent="0" eaLnBrk="0">
              <a:buNone/>
            </a:pPr>
            <a:r>
              <a:rPr lang="en-US" altLang="ko-KR" sz="1300" dirty="0">
                <a:solidFill>
                  <a:schemeClr val="bg2"/>
                </a:solidFill>
              </a:rPr>
              <a:t>-  </a:t>
            </a:r>
            <a:r>
              <a:rPr lang="ko-KR" altLang="en-US" sz="1300" dirty="0">
                <a:solidFill>
                  <a:schemeClr val="bg2"/>
                </a:solidFill>
              </a:rPr>
              <a:t>로그인 후 한 번만 묻고, 나머지는 쓰면서 알아갑니다.</a:t>
            </a:r>
            <a:endParaRPr lang="ko-KR" altLang="en-US" sz="1300" dirty="0"/>
          </a:p>
        </p:txBody>
      </p:sp>
      <p:sp>
        <p:nvSpPr>
          <p:cNvPr id="42" name="체크인 설명"/>
          <p:cNvSpPr/>
          <p:nvPr/>
        </p:nvSpPr>
        <p:spPr>
          <a:xfrm>
            <a:off x="6199632" y="3246120"/>
            <a:ext cx="544068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0"/>
          <p:cNvSpPr txBox="1"/>
          <p:nvPr/>
        </p:nvSpPr>
        <p:spPr>
          <a:xfrm>
            <a:off x="6473952" y="342900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체크인에서 묻는 것</a:t>
            </a:r>
            <a:endParaRPr lang="ko-KR" altLang="en-US" sz="1500" dirty="0"/>
          </a:p>
        </p:txBody>
      </p:sp>
      <p:sp>
        <p:nvSpPr>
          <p:cNvPr id="44" name="Text 31"/>
          <p:cNvSpPr txBox="1"/>
          <p:nvPr/>
        </p:nvSpPr>
        <p:spPr>
          <a:xfrm>
            <a:off x="6473952" y="38404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eaLnBrk="0">
              <a:spcAft>
                <a:spcPts val="400"/>
              </a:spcAft>
              <a:buSzPct val="100000"/>
              <a:buFontTx/>
              <a:buChar char="-"/>
            </a:pPr>
            <a:r>
              <a:rPr lang="ko-KR" altLang="en-US" sz="1300" dirty="0">
                <a:solidFill>
                  <a:schemeClr val="bg2"/>
                </a:solidFill>
              </a:rPr>
              <a:t>분량과 배정 시간이 알맞았는지 </a:t>
            </a:r>
            <a:endParaRPr lang="en-US" altLang="ko-KR" sz="1300" dirty="0">
              <a:solidFill>
                <a:schemeClr val="bg2"/>
              </a:solidFill>
            </a:endParaRPr>
          </a:p>
          <a:p>
            <a:pPr eaLnBrk="0">
              <a:spcAft>
                <a:spcPts val="400"/>
              </a:spcAft>
              <a:buSzPct val="100000"/>
            </a:pPr>
            <a:endParaRPr lang="ko-KR" altLang="en-US" sz="800" dirty="0"/>
          </a:p>
          <a:p>
            <a:pPr marL="285750" indent="-285750" eaLnBrk="0">
              <a:spcAft>
                <a:spcPts val="400"/>
              </a:spcAft>
              <a:buSzPct val="100000"/>
              <a:buFontTx/>
              <a:buChar char="-"/>
            </a:pPr>
            <a:r>
              <a:rPr lang="ko-KR" altLang="en-US" sz="1300" dirty="0">
                <a:solidFill>
                  <a:schemeClr val="bg2"/>
                </a:solidFill>
              </a:rPr>
              <a:t>어디서, 어떤 분위기에서 했는지</a:t>
            </a:r>
            <a:endParaRPr lang="en-US" altLang="ko-KR" sz="1300" dirty="0">
              <a:solidFill>
                <a:schemeClr val="bg2"/>
              </a:solidFill>
            </a:endParaRPr>
          </a:p>
          <a:p>
            <a:pPr marL="285750" indent="-285750" eaLnBrk="0">
              <a:spcAft>
                <a:spcPts val="400"/>
              </a:spcAft>
              <a:buSzPct val="100000"/>
              <a:buFontTx/>
              <a:buChar char="-"/>
            </a:pPr>
            <a:endParaRPr lang="ko-KR" altLang="en-US" sz="800" dirty="0"/>
          </a:p>
          <a:p>
            <a:pPr eaLnBrk="0">
              <a:spcAft>
                <a:spcPts val="400"/>
              </a:spcAft>
              <a:buSzPct val="100000"/>
            </a:pPr>
            <a:r>
              <a:rPr lang="en-US" altLang="ko-KR" sz="1300" dirty="0">
                <a:solidFill>
                  <a:schemeClr val="bg2"/>
                </a:solidFill>
              </a:rPr>
              <a:t>-    </a:t>
            </a:r>
            <a:r>
              <a:rPr lang="ko-KR" altLang="en-US" sz="1300" dirty="0">
                <a:solidFill>
                  <a:schemeClr val="bg2"/>
                </a:solidFill>
              </a:rPr>
              <a:t>집중과 컨디션은 어땠는지</a:t>
            </a:r>
            <a:endParaRPr lang="ko-KR" altLang="en-US" sz="1300" dirty="0"/>
          </a:p>
        </p:txBody>
      </p:sp>
      <p:sp>
        <p:nvSpPr>
          <p:cNvPr id="45" name="Text 32"/>
          <p:cNvSpPr txBox="1"/>
          <p:nvPr/>
        </p:nvSpPr>
        <p:spPr>
          <a:xfrm>
            <a:off x="548640" y="53035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800" b="1" dirty="0">
                <a:solidFill>
                  <a:schemeClr val="bg1"/>
                </a:solidFill>
              </a:rPr>
              <a:t>한 번의 답으로 단정하지 않고, 직접 말한 선호와 반복된 관찰을 구분합니다</a:t>
            </a:r>
            <a:endParaRPr lang="ko-KR" altLang="en-US" sz="1800" dirty="0"/>
          </a:p>
        </p:txBody>
      </p:sp>
      <p:sp>
        <p:nvSpPr>
          <p:cNvPr id="46" name="Text 33"/>
          <p:cNvSpPr txBox="1"/>
          <p:nvPr/>
        </p:nvSpPr>
        <p:spPr>
          <a:xfrm>
            <a:off x="548640" y="583387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100" dirty="0">
                <a:solidFill>
                  <a:schemeClr val="accent6"/>
                </a:solidFill>
              </a:rPr>
              <a:t>장소는 잘 됐던 곳을 선택지로만 제안하고 강요하지 않습니다 · 오늘 시연은 체크인 질문까지, 답변 저장과 누적 반영은 다음 발표</a:t>
            </a:r>
            <a:endParaRPr lang="ko-KR" altLang="en-US" sz="11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4</a:t>
            </a:fld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b="1" dirty="0">
                <a:solidFill>
                  <a:schemeClr val="accent2"/>
                </a:solidFill>
              </a:rPr>
              <a:t>04 · 시스템 아키텍처</a:t>
            </a:r>
            <a:endParaRPr lang="ko-KR" alt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bg1"/>
                </a:solidFill>
              </a:rPr>
              <a:t>AI는 초안을 만들고, 시스템은 검증하고 저장합니다</a:t>
            </a:r>
            <a:endParaRPr lang="ko-KR" altLang="en-US" sz="3000" dirty="0"/>
          </a:p>
        </p:txBody>
      </p:sp>
      <p:sp>
        <p:nvSpPr>
          <p:cNvPr id="4" name="시스템 아키텍처 프레임"/>
          <p:cNvSpPr/>
          <p:nvPr/>
        </p:nvSpPr>
        <p:spPr>
          <a:xfrm>
            <a:off x="548640" y="1645920"/>
            <a:ext cx="7635240" cy="41148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시스템 아키텍처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1"/>
            <a:ext cx="7543800" cy="471384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458200" y="1737360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3356" y="1842516"/>
            <a:ext cx="210312" cy="2103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061704" y="171907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화면</a:t>
            </a:r>
            <a:endParaRPr lang="ko-KR" alt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9061704" y="2066544"/>
            <a:ext cx="257860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온보딩, 프로젝트 대화, 계획 검토, 체크인</a:t>
            </a:r>
            <a:endParaRPr lang="ko-KR" alt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458200" y="3063240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3356" y="3168396"/>
            <a:ext cx="210312" cy="2103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9061704" y="304495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백엔드와 AI 처리</a:t>
            </a:r>
            <a:endParaRPr lang="ko-KR" alt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9061704" y="3392424"/>
            <a:ext cx="257860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필요한 사용자·프로젝트 정보를 모아 AI가 초안을 만들고, 코드가 시간·기간을 검증</a:t>
            </a:r>
            <a:endParaRPr lang="ko-KR" alt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458200" y="4389120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3356" y="4494276"/>
            <a:ext cx="210312" cy="21031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061704" y="4370832"/>
            <a:ext cx="2578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저장과 반영</a:t>
            </a:r>
            <a:endParaRPr lang="ko-KR" alt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9061704" y="4718304"/>
            <a:ext cx="257860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사용자가 확인한 계획과 실행 정보만 저장하고 다음 요청에서 다시 활용</a:t>
            </a:r>
            <a:endParaRPr lang="ko-KR" alt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endParaRPr lang="ko-KR" alt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5</a:t>
            </a:fld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b="1" dirty="0">
                <a:solidFill>
                  <a:schemeClr val="accent2"/>
                </a:solidFill>
              </a:rPr>
              <a:t>UI 설계 · 1/6 성향 온보딩 (공통 층)</a:t>
            </a:r>
            <a:endParaRPr lang="ko-KR" alt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bg1"/>
                </a:solidFill>
              </a:rPr>
              <a:t>로그인 후 처음 한 번 하는 성향 설문지</a:t>
            </a:r>
            <a:endParaRPr lang="ko-KR" altLang="en-US" sz="3000" dirty="0"/>
          </a:p>
        </p:txBody>
      </p:sp>
      <p:sp>
        <p:nvSpPr>
          <p:cNvPr id="4" name="온보딩 설문 화면 프레임"/>
          <p:cNvSpPr/>
          <p:nvPr/>
        </p:nvSpPr>
        <p:spPr>
          <a:xfrm>
            <a:off x="548640" y="1645920"/>
            <a:ext cx="6812280" cy="3931920"/>
          </a:xfrm>
          <a:prstGeom prst="roundRect">
            <a:avLst>
              <a:gd name="adj" fmla="val 2791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온보딩 설문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08" y="1570892"/>
            <a:ext cx="7087772" cy="4610452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645920"/>
          <a:ext cx="4050792" cy="3072384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4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38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endParaRPr lang="ko-KR" altLang="en-US" sz="12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00" b="1" dirty="0">
                          <a:solidFill>
                            <a:schemeClr val="accent2"/>
                          </a:solidFill>
                        </a:rPr>
                        <a:t>A 몰입형</a:t>
                      </a:r>
                      <a:endParaRPr lang="ko-KR" altLang="en-US" sz="12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00" b="1" dirty="0">
                          <a:solidFill>
                            <a:schemeClr val="accent2"/>
                          </a:solidFill>
                        </a:rPr>
                        <a:t>B 짧은 집중형</a:t>
                      </a:r>
                      <a:endParaRPr lang="ko-KR" altLang="en-US" sz="12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00" dirty="0">
                          <a:solidFill>
                            <a:schemeClr val="bg2"/>
                          </a:solidFill>
                        </a:rPr>
                        <a:t>생활 형태</a:t>
                      </a:r>
                      <a:endParaRPr lang="ko-KR" altLang="en-US" sz="12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학생</a:t>
                      </a:r>
                      <a:endParaRPr lang="ko-KR" altLang="en-US" sz="12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취업 준비생</a:t>
                      </a:r>
                      <a:endParaRPr lang="ko-KR" altLang="en-US" sz="12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00" dirty="0">
                          <a:solidFill>
                            <a:schemeClr val="bg2"/>
                          </a:solidFill>
                        </a:rPr>
                        <a:t>규칙성</a:t>
                      </a:r>
                      <a:endParaRPr lang="ko-KR" altLang="en-US" sz="12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대체로 규칙적</a:t>
                      </a:r>
                      <a:endParaRPr lang="ko-KR" altLang="en-US" sz="12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예측하기 어려움</a:t>
                      </a:r>
                      <a:endParaRPr lang="ko-KR" altLang="en-US" sz="12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00" dirty="0">
                          <a:solidFill>
                            <a:schemeClr val="bg2"/>
                          </a:solidFill>
                        </a:rPr>
                        <a:t>어려운 점</a:t>
                      </a:r>
                      <a:endParaRPr lang="ko-KR" altLang="en-US" sz="12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특별히 없음</a:t>
                      </a:r>
                      <a:endParaRPr lang="ko-KR" altLang="en-US" sz="12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시작·집중</a:t>
                      </a:r>
                      <a:endParaRPr lang="ko-KR" altLang="en-US" sz="12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00" dirty="0">
                          <a:solidFill>
                            <a:schemeClr val="bg2"/>
                          </a:solidFill>
                        </a:rPr>
                        <a:t>한 번에 집중</a:t>
                      </a:r>
                      <a:endParaRPr lang="ko-KR" altLang="en-US" sz="12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90분</a:t>
                      </a:r>
                      <a:endParaRPr lang="ko-KR" altLang="en-US" sz="12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30분</a:t>
                      </a:r>
                      <a:endParaRPr lang="ko-KR" altLang="en-US" sz="12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00" dirty="0">
                          <a:solidFill>
                            <a:schemeClr val="bg2"/>
                          </a:solidFill>
                        </a:rPr>
                        <a:t>틀어지면</a:t>
                      </a:r>
                      <a:endParaRPr lang="ko-KR" altLang="en-US" sz="12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시간 다시 배치</a:t>
                      </a:r>
                      <a:endParaRPr lang="ko-KR" altLang="en-US" sz="12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할 일 줄이기</a:t>
                      </a:r>
                      <a:endParaRPr lang="ko-KR" altLang="en-US" sz="12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00" dirty="0">
                          <a:solidFill>
                            <a:schemeClr val="bg2"/>
                          </a:solidFill>
                        </a:rPr>
                        <a:t>계획 방식</a:t>
                      </a:r>
                      <a:endParaRPr lang="ko-KR" altLang="en-US" sz="12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시간 지정형</a:t>
                      </a:r>
                      <a:endParaRPr lang="ko-KR" altLang="en-US" sz="12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eaLnBrk="0">
                        <a:buNone/>
                      </a:pPr>
                      <a:r>
                        <a:rPr lang="ko-KR" altLang="en-US" sz="1200" dirty="0">
                          <a:solidFill>
                            <a:schemeClr val="bg1"/>
                          </a:solidFill>
                        </a:rPr>
                        <a:t>작업량 지정형</a:t>
                      </a:r>
                      <a:endParaRPr lang="ko-KR" altLang="en-US" sz="1200" dirty="0"/>
                    </a:p>
                  </a:txBody>
                  <a:tcPr marR="73152" marT="36576" marB="36576" anchor="ctr">
                    <a:lnL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accent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589519" y="4892040"/>
            <a:ext cx="433284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답은 공통 층에 저장되어 모든 프로젝트 계획의 출발점이 된다</a:t>
            </a:r>
            <a:r>
              <a:rPr lang="en-US" altLang="ko-KR" sz="1200" dirty="0">
                <a:solidFill>
                  <a:schemeClr val="bg2"/>
                </a:solidFill>
              </a:rPr>
              <a:t>.</a:t>
            </a:r>
            <a:endParaRPr lang="ko-KR" alt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6</a:t>
            </a:fld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b="1" dirty="0">
                <a:solidFill>
                  <a:schemeClr val="accent2"/>
                </a:solidFill>
              </a:rPr>
              <a:t>UI 설계 · </a:t>
            </a:r>
            <a:r>
              <a:rPr lang="en-US" altLang="ko-KR" sz="1200" b="1" dirty="0">
                <a:solidFill>
                  <a:schemeClr val="accent2"/>
                </a:solidFill>
              </a:rPr>
              <a:t>2</a:t>
            </a:r>
            <a:r>
              <a:rPr lang="ko-KR" altLang="en-US" sz="1200" b="1" dirty="0">
                <a:solidFill>
                  <a:schemeClr val="accent2"/>
                </a:solidFill>
              </a:rPr>
              <a:t>/6 이번 주 계획할 시간</a:t>
            </a:r>
            <a:endParaRPr lang="ko-KR" alt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bg1"/>
                </a:solidFill>
              </a:rPr>
              <a:t>가용 시간은 설문이 아니라 매주 고릅니다</a:t>
            </a:r>
            <a:endParaRPr lang="ko-KR" altLang="en-US" sz="3000" dirty="0"/>
          </a:p>
        </p:txBody>
      </p:sp>
      <p:sp>
        <p:nvSpPr>
          <p:cNvPr id="4" name="가용 시간 화면 프레임"/>
          <p:cNvSpPr/>
          <p:nvPr/>
        </p:nvSpPr>
        <p:spPr>
          <a:xfrm>
            <a:off x="548640" y="1645920"/>
            <a:ext cx="722376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가용 시간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26464"/>
            <a:ext cx="7317545" cy="497433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92440" y="1783080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7596" y="18882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95944" y="176479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매주 새로 고름</a:t>
            </a:r>
            <a:endParaRPr lang="ko-KR" alt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695944" y="2112264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다음 주가 되면 </a:t>
            </a:r>
            <a:r>
              <a:rPr lang="ko-KR" altLang="en-US" sz="1200" dirty="0" err="1">
                <a:solidFill>
                  <a:schemeClr val="bg2"/>
                </a:solidFill>
              </a:rPr>
              <a:t>비워짐</a:t>
            </a:r>
            <a:endParaRPr lang="ko-KR" alt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092440" y="2807208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7596" y="2912364"/>
            <a:ext cx="210312" cy="2103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95944" y="2788920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이 시간과 프로젝트 기간 안에서만</a:t>
            </a:r>
            <a:endParaRPr lang="ko-KR" alt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695944" y="3136392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가용 시간 안으로 플랜을 생성함</a:t>
            </a:r>
            <a:endParaRPr lang="ko-KR" alt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092440" y="3831336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7596" y="3936492"/>
            <a:ext cx="210312" cy="21031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695944" y="3813048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캘린더 일정과 겹치면 자동 제외</a:t>
            </a:r>
            <a:endParaRPr lang="ko-KR" alt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695944" y="416052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독립된 프로젝트끼리 가용 시간을 침해하지 않음</a:t>
            </a:r>
            <a:endParaRPr lang="ko-KR" alt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8092440" y="4855464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7596" y="4960620"/>
            <a:ext cx="210312" cy="2103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695944" y="4837176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시연 설정</a:t>
            </a:r>
            <a:endParaRPr lang="ko-KR" alt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8695944" y="5184648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화·수 19~22시, 토·일 10~13시</a:t>
            </a:r>
            <a:endParaRPr lang="ko-KR" alt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7</a:t>
            </a:fld>
            <a:endParaRPr lang="ko-KR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b="1" dirty="0">
                <a:solidFill>
                  <a:schemeClr val="accent2"/>
                </a:solidFill>
              </a:rPr>
              <a:t>UI 설계 · </a:t>
            </a:r>
            <a:r>
              <a:rPr lang="en-US" altLang="ko-KR" sz="1200" b="1" dirty="0">
                <a:solidFill>
                  <a:schemeClr val="accent2"/>
                </a:solidFill>
              </a:rPr>
              <a:t>3</a:t>
            </a:r>
            <a:r>
              <a:rPr lang="ko-KR" altLang="en-US" sz="1200" b="1" dirty="0">
                <a:solidFill>
                  <a:schemeClr val="accent2"/>
                </a:solidFill>
              </a:rPr>
              <a:t>/6 새 프로젝트</a:t>
            </a:r>
            <a:endParaRPr lang="ko-KR" alt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bg1"/>
                </a:solidFill>
              </a:rPr>
              <a:t>프로젝트는 서로 </a:t>
            </a:r>
            <a:r>
              <a:rPr lang="ko-KR" altLang="en-US" dirty="0"/>
              <a:t>독립된</a:t>
            </a:r>
            <a:r>
              <a:rPr lang="ko-KR" altLang="en-US" sz="3000" b="1" dirty="0">
                <a:solidFill>
                  <a:schemeClr val="bg1"/>
                </a:solidFill>
              </a:rPr>
              <a:t> 데이터가 쌓이는 곳</a:t>
            </a:r>
            <a:endParaRPr lang="ko-KR" altLang="en-US" sz="3000" dirty="0"/>
          </a:p>
        </p:txBody>
      </p:sp>
      <p:sp>
        <p:nvSpPr>
          <p:cNvPr id="4" name="새 프로젝트 화면 프레임"/>
          <p:cNvSpPr/>
          <p:nvPr/>
        </p:nvSpPr>
        <p:spPr>
          <a:xfrm>
            <a:off x="548640" y="1645920"/>
            <a:ext cx="3886200" cy="4434840"/>
          </a:xfrm>
          <a:prstGeom prst="roundRect">
            <a:avLst>
              <a:gd name="adj" fmla="val 2824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새 프로젝트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31" y="1554480"/>
            <a:ext cx="4194165" cy="46939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846320" y="1783080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1476" y="18882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49824" y="1764792"/>
            <a:ext cx="6190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제목·목표·기간·중요도만 입력</a:t>
            </a:r>
            <a:endParaRPr lang="ko-KR" alt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5449824" y="2112264"/>
            <a:ext cx="6190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목표에 적은 일(초안, 리허설)은 계획에서 빠지지 않게 함</a:t>
            </a:r>
            <a:endParaRPr lang="ko-KR" alt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846320" y="2807208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476" y="2912364"/>
            <a:ext cx="210312" cy="2103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449824" y="2788920"/>
            <a:ext cx="6190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저장하면 바로 그 프로젝트 대화로</a:t>
            </a:r>
            <a:endParaRPr lang="ko-KR" alt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5449824" y="3136392"/>
            <a:ext cx="6190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프로젝트마다 대화 세션이 하나씩 주어짐</a:t>
            </a:r>
            <a:endParaRPr lang="ko-KR" alt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4846320" y="3831336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51476" y="3936492"/>
            <a:ext cx="210312" cy="21031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5449824" y="3813048"/>
            <a:ext cx="6190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계획·실행 기록·피드백이 이 프로젝트에 쌓임</a:t>
            </a:r>
            <a:endParaRPr lang="ko-KR" alt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5449824" y="4160520"/>
            <a:ext cx="6190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다른 프로젝트와 분리된 층에 저장되므로 섞이지 않음</a:t>
            </a:r>
            <a:endParaRPr lang="en-US" altLang="ko-KR" sz="1200" dirty="0">
              <a:solidFill>
                <a:schemeClr val="bg2"/>
              </a:solidFill>
            </a:endParaRPr>
          </a:p>
          <a:p>
            <a:pPr marL="0" indent="0" eaLnBrk="0">
              <a:buNone/>
            </a:pPr>
            <a:r>
              <a:rPr lang="en-US" altLang="ko-KR" sz="1200" dirty="0">
                <a:solidFill>
                  <a:schemeClr val="bg2"/>
                </a:solidFill>
              </a:rPr>
              <a:t>LLM</a:t>
            </a:r>
            <a:r>
              <a:rPr lang="ko-KR" altLang="en-US" sz="1200" dirty="0">
                <a:solidFill>
                  <a:schemeClr val="bg2"/>
                </a:solidFill>
              </a:rPr>
              <a:t>은 공통</a:t>
            </a:r>
            <a:r>
              <a:rPr lang="en-US" altLang="ko-KR" sz="1200" dirty="0">
                <a:solidFill>
                  <a:schemeClr val="bg2"/>
                </a:solidFill>
              </a:rPr>
              <a:t>(</a:t>
            </a:r>
            <a:r>
              <a:rPr lang="ko-KR" altLang="en-US" sz="1200" dirty="0">
                <a:solidFill>
                  <a:schemeClr val="bg2"/>
                </a:solidFill>
              </a:rPr>
              <a:t>공유</a:t>
            </a:r>
            <a:r>
              <a:rPr lang="en-US" altLang="ko-KR" sz="1200" dirty="0">
                <a:solidFill>
                  <a:schemeClr val="bg2"/>
                </a:solidFill>
              </a:rPr>
              <a:t>) </a:t>
            </a:r>
            <a:r>
              <a:rPr lang="ko-KR" altLang="en-US" sz="1200" dirty="0">
                <a:solidFill>
                  <a:schemeClr val="bg2"/>
                </a:solidFill>
              </a:rPr>
              <a:t>층과 독립된 프로젝트의 맥락을 합쳐서 봄</a:t>
            </a:r>
            <a:endParaRPr lang="en-US" altLang="ko-KR" sz="1200" dirty="0">
              <a:solidFill>
                <a:schemeClr val="bg2"/>
              </a:solidFill>
            </a:endParaRPr>
          </a:p>
        </p:txBody>
      </p:sp>
      <p:sp>
        <p:nvSpPr>
          <p:cNvPr id="18" name="Shape 12"/>
          <p:cNvSpPr/>
          <p:nvPr/>
        </p:nvSpPr>
        <p:spPr>
          <a:xfrm>
            <a:off x="4846320" y="4855464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1476" y="4960620"/>
            <a:ext cx="210312" cy="2103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449824" y="4837176"/>
            <a:ext cx="619048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시연: 두 사용자 모두 같은 프로젝트</a:t>
            </a:r>
            <a:endParaRPr lang="ko-KR" alt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5449824" y="5184648"/>
            <a:ext cx="6190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10/27 ~ 10/30 · 발표 자료 초안 완성 + 리허설</a:t>
            </a:r>
            <a:endParaRPr lang="ko-KR" alt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8</a:t>
            </a:fld>
            <a:endParaRPr lang="ko-KR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b="1" dirty="0">
                <a:solidFill>
                  <a:schemeClr val="accent2"/>
                </a:solidFill>
              </a:rPr>
              <a:t>UI 설계 · 4/6 계획 초안 비교</a:t>
            </a:r>
            <a:endParaRPr lang="ko-KR" alt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bg1"/>
                </a:solidFill>
              </a:rPr>
              <a:t>같은 요청, 한 번에 처리하는 양이 다릅니다</a:t>
            </a:r>
            <a:endParaRPr lang="ko-KR" altLang="en-US" sz="3000" dirty="0"/>
          </a:p>
        </p:txBody>
      </p:sp>
      <p:sp>
        <p:nvSpPr>
          <p:cNvPr id="4" name="같은 요청"/>
          <p:cNvSpPr/>
          <p:nvPr/>
        </p:nvSpPr>
        <p:spPr>
          <a:xfrm>
            <a:off x="548640" y="1572768"/>
            <a:ext cx="11091672" cy="457200"/>
          </a:xfrm>
          <a:prstGeom prst="roundRect">
            <a:avLst>
              <a:gd name="adj" fmla="val 24000"/>
            </a:avLst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57276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300" b="1" dirty="0">
                <a:solidFill>
                  <a:schemeClr val="accent2"/>
                </a:solidFill>
              </a:rPr>
              <a:t>같은 요청  </a:t>
            </a:r>
            <a:r>
              <a:rPr lang="ko-KR" altLang="en-US" sz="1300" dirty="0">
                <a:solidFill>
                  <a:schemeClr val="bg1"/>
                </a:solidFill>
              </a:rPr>
              <a:t>“이번 주 안에 발표 자료 초안 끝내고 리허설 두 번 하고 싶어요”</a:t>
            </a:r>
            <a:endParaRPr lang="ko-KR" altLang="en-US" sz="1300" dirty="0"/>
          </a:p>
        </p:txBody>
      </p:sp>
      <p:sp>
        <p:nvSpPr>
          <p:cNvPr id="6" name="A 계획 초안 프레임"/>
          <p:cNvSpPr/>
          <p:nvPr/>
        </p:nvSpPr>
        <p:spPr>
          <a:xfrm>
            <a:off x="548640" y="2194560"/>
            <a:ext cx="3337560" cy="4023360"/>
          </a:xfrm>
          <a:prstGeom prst="roundRect">
            <a:avLst>
              <a:gd name="adj" fmla="val 3288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A 계획 초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77" y="2174631"/>
            <a:ext cx="4214681" cy="4402015"/>
          </a:xfrm>
          <a:prstGeom prst="rect">
            <a:avLst/>
          </a:prstGeom>
        </p:spPr>
      </p:pic>
      <p:sp>
        <p:nvSpPr>
          <p:cNvPr id="8" name="B 계획 초안 프레임"/>
          <p:cNvSpPr/>
          <p:nvPr/>
        </p:nvSpPr>
        <p:spPr>
          <a:xfrm>
            <a:off x="4801562" y="2194560"/>
            <a:ext cx="2605077" cy="4023360"/>
          </a:xfrm>
          <a:prstGeom prst="roundRect">
            <a:avLst>
              <a:gd name="adj" fmla="val 3288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1" descr="B 계획 초안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721" y="2099310"/>
            <a:ext cx="4280095" cy="447733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15982" y="2365862"/>
            <a:ext cx="38404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1" name="Text 7"/>
          <p:cNvSpPr txBox="1"/>
          <p:nvPr/>
        </p:nvSpPr>
        <p:spPr>
          <a:xfrm>
            <a:off x="306462" y="2359297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A</a:t>
            </a:r>
            <a:endParaRPr lang="ko-KR" alt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4676780" y="2379930"/>
            <a:ext cx="384048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9"/>
          <p:cNvSpPr txBox="1"/>
          <p:nvPr/>
        </p:nvSpPr>
        <p:spPr>
          <a:xfrm>
            <a:off x="4686300" y="2378523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B</a:t>
            </a:r>
            <a:endParaRPr lang="ko-KR" altLang="en-US" sz="1100" dirty="0"/>
          </a:p>
        </p:txBody>
      </p:sp>
      <p:sp>
        <p:nvSpPr>
          <p:cNvPr id="14" name="A 설명"/>
          <p:cNvSpPr/>
          <p:nvPr/>
        </p:nvSpPr>
        <p:spPr>
          <a:xfrm>
            <a:off x="8997461" y="2461660"/>
            <a:ext cx="2647539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1"/>
          <p:cNvSpPr txBox="1"/>
          <p:nvPr/>
        </p:nvSpPr>
        <p:spPr>
          <a:xfrm>
            <a:off x="9260058" y="2679192"/>
            <a:ext cx="22817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A · 한 번에 길게 집중</a:t>
            </a:r>
            <a:endParaRPr lang="ko-KR" alt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9278346" y="3193180"/>
            <a:ext cx="22817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85~90분 덩어리, 시각이 정해진 시간표, 시작 행동 없음</a:t>
            </a:r>
            <a:endParaRPr lang="ko-KR" altLang="en-US" sz="1200" dirty="0"/>
          </a:p>
        </p:txBody>
      </p:sp>
      <p:sp>
        <p:nvSpPr>
          <p:cNvPr id="17" name="B 설명"/>
          <p:cNvSpPr/>
          <p:nvPr/>
        </p:nvSpPr>
        <p:spPr>
          <a:xfrm>
            <a:off x="9002130" y="4178718"/>
            <a:ext cx="261075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8" name="Text 14"/>
          <p:cNvSpPr txBox="1"/>
          <p:nvPr/>
        </p:nvSpPr>
        <p:spPr>
          <a:xfrm>
            <a:off x="9196754" y="4375359"/>
            <a:ext cx="23633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B · 짧게, 작은 행동부터</a:t>
            </a:r>
            <a:endParaRPr lang="ko-KR" alt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9211397" y="4850892"/>
            <a:ext cx="219221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30분 단위, 매일 첫 작업 앞 5분 시작 행동, 시각 없이 할 일 목록</a:t>
            </a:r>
            <a:endParaRPr lang="ko-KR" alt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9</a:t>
            </a:fld>
            <a:endParaRPr lang="ko-KR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b="1" dirty="0">
                <a:solidFill>
                  <a:schemeClr val="accent2"/>
                </a:solidFill>
              </a:rPr>
              <a:t>UI 설계 · 5/6 캘린더</a:t>
            </a:r>
            <a:endParaRPr lang="ko-KR" alt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bg1"/>
                </a:solidFill>
              </a:rPr>
              <a:t>확정한 계획은 캘린더에 </a:t>
            </a:r>
            <a:r>
              <a:rPr lang="ko-KR" altLang="en-US" sz="3000" b="1" dirty="0" err="1">
                <a:solidFill>
                  <a:schemeClr val="bg1"/>
                </a:solidFill>
              </a:rPr>
              <a:t>들어감</a:t>
            </a:r>
            <a:endParaRPr lang="ko-KR" altLang="en-US" sz="3000" dirty="0"/>
          </a:p>
        </p:txBody>
      </p:sp>
      <p:sp>
        <p:nvSpPr>
          <p:cNvPr id="4" name="캘린더 화면 프레임"/>
          <p:cNvSpPr/>
          <p:nvPr/>
        </p:nvSpPr>
        <p:spPr>
          <a:xfrm>
            <a:off x="548640" y="1645920"/>
            <a:ext cx="7223760" cy="4434840"/>
          </a:xfrm>
          <a:prstGeom prst="roundRect">
            <a:avLst>
              <a:gd name="adj" fmla="val 2474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캘린더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645920"/>
            <a:ext cx="704088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92440" y="1783080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7596" y="1888236"/>
            <a:ext cx="210312" cy="2103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95944" y="1764792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가용 시간 </a:t>
            </a:r>
            <a:r>
              <a:rPr lang="en-US" altLang="ko-KR" sz="1500" b="1" dirty="0">
                <a:solidFill>
                  <a:schemeClr val="bg1"/>
                </a:solidFill>
              </a:rPr>
              <a:t>: </a:t>
            </a:r>
            <a:r>
              <a:rPr lang="ko-KR" altLang="en-US" sz="1500" b="1" dirty="0">
                <a:solidFill>
                  <a:schemeClr val="bg1"/>
                </a:solidFill>
              </a:rPr>
              <a:t>화</a:t>
            </a:r>
            <a:r>
              <a:rPr lang="en-US" altLang="ko-KR" sz="1500" b="1" dirty="0">
                <a:solidFill>
                  <a:schemeClr val="bg1"/>
                </a:solidFill>
              </a:rPr>
              <a:t>, </a:t>
            </a:r>
            <a:r>
              <a:rPr lang="ko-KR" altLang="en-US" sz="1500" b="1" dirty="0">
                <a:solidFill>
                  <a:schemeClr val="bg1"/>
                </a:solidFill>
              </a:rPr>
              <a:t>수 토</a:t>
            </a:r>
            <a:r>
              <a:rPr lang="en-US" altLang="ko-KR" sz="1500" b="1" dirty="0">
                <a:solidFill>
                  <a:schemeClr val="bg1"/>
                </a:solidFill>
              </a:rPr>
              <a:t>, </a:t>
            </a:r>
            <a:r>
              <a:rPr lang="ko-KR" altLang="en-US" sz="1500" b="1" dirty="0">
                <a:solidFill>
                  <a:schemeClr val="bg1"/>
                </a:solidFill>
              </a:rPr>
              <a:t>일</a:t>
            </a:r>
            <a:endParaRPr lang="ko-KR" alt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695944" y="2112264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마감일이 </a:t>
            </a:r>
            <a:r>
              <a:rPr lang="en-US" altLang="ko-KR" sz="1200" dirty="0">
                <a:solidFill>
                  <a:schemeClr val="bg2"/>
                </a:solidFill>
              </a:rPr>
              <a:t>10/30 </a:t>
            </a:r>
            <a:r>
              <a:rPr lang="ko-KR" altLang="en-US" sz="1200" dirty="0">
                <a:solidFill>
                  <a:schemeClr val="bg2"/>
                </a:solidFill>
              </a:rPr>
              <a:t>까지 이기 때문에</a:t>
            </a:r>
            <a:r>
              <a:rPr lang="en-US" altLang="ko-KR" sz="1200" dirty="0">
                <a:solidFill>
                  <a:schemeClr val="bg2"/>
                </a:solidFill>
              </a:rPr>
              <a:t>, </a:t>
            </a:r>
            <a:r>
              <a:rPr lang="ko-KR" altLang="en-US" sz="1200" dirty="0">
                <a:solidFill>
                  <a:schemeClr val="bg2"/>
                </a:solidFill>
              </a:rPr>
              <a:t>분배 가능한 시간은 화</a:t>
            </a:r>
            <a:r>
              <a:rPr lang="en-US" altLang="ko-KR" sz="1200" dirty="0">
                <a:solidFill>
                  <a:schemeClr val="bg2"/>
                </a:solidFill>
              </a:rPr>
              <a:t>, </a:t>
            </a:r>
            <a:r>
              <a:rPr lang="ko-KR" altLang="en-US" sz="1200" dirty="0">
                <a:solidFill>
                  <a:schemeClr val="bg2"/>
                </a:solidFill>
              </a:rPr>
              <a:t>수인 상황</a:t>
            </a:r>
            <a:endParaRPr lang="ko-KR" alt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8092440" y="2807208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7596" y="2912364"/>
            <a:ext cx="210312" cy="2103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8695944" y="2788920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확정한 작업이 홈 캘린더로</a:t>
            </a:r>
            <a:endParaRPr lang="ko-KR" alt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8695944" y="3136392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이번 주 일정을 한눈에 볼 수 있음</a:t>
            </a:r>
            <a:endParaRPr lang="ko-KR" alt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8092440" y="3831336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7596" y="3936492"/>
            <a:ext cx="210312" cy="21031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8695944" y="3813048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마감 안에서, 순서대로</a:t>
            </a:r>
            <a:endParaRPr lang="ko-KR" altLang="en-US" sz="1500" dirty="0"/>
          </a:p>
        </p:txBody>
      </p:sp>
      <p:sp>
        <p:nvSpPr>
          <p:cNvPr id="17" name="Text 11"/>
          <p:cNvSpPr txBox="1"/>
          <p:nvPr/>
        </p:nvSpPr>
        <p:spPr>
          <a:xfrm>
            <a:off x="8695944" y="4160520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프로젝트 생성시 마감일에 맞춰 플랜을 짬</a:t>
            </a:r>
            <a:endParaRPr lang="ko-KR" alt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8092440" y="4855464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7596" y="4960620"/>
            <a:ext cx="210312" cy="210312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695944" y="4837176"/>
            <a:ext cx="29443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진행 중인 프로젝트와 함께</a:t>
            </a:r>
            <a:endParaRPr lang="ko-KR" alt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8695944" y="5184648"/>
            <a:ext cx="29443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생성한 여러 프로젝트를 한눈에 볼 수 있음</a:t>
            </a:r>
            <a:endParaRPr lang="ko-KR" alt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10</a:t>
            </a:fld>
            <a:endParaRPr lang="ko-KR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b="1" dirty="0">
                <a:solidFill>
                  <a:schemeClr val="accent2"/>
                </a:solidFill>
              </a:rPr>
              <a:t>UI 설계 · 6/6 체크인</a:t>
            </a:r>
            <a:endParaRPr lang="ko-KR" alt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bg1"/>
                </a:solidFill>
              </a:rPr>
              <a:t>완료 여부와 함께, 플랜을 어떻게 실행했는지 </a:t>
            </a:r>
            <a:r>
              <a:rPr lang="ko-KR" altLang="en-US" dirty="0"/>
              <a:t>질문</a:t>
            </a:r>
            <a:endParaRPr lang="ko-KR" altLang="en-US" sz="3000" dirty="0"/>
          </a:p>
        </p:txBody>
      </p:sp>
      <p:sp>
        <p:nvSpPr>
          <p:cNvPr id="4" name="체크인 화면 프레임"/>
          <p:cNvSpPr/>
          <p:nvPr/>
        </p:nvSpPr>
        <p:spPr>
          <a:xfrm>
            <a:off x="548640" y="1645920"/>
            <a:ext cx="7406640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체크인 화면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77365"/>
            <a:ext cx="7223760" cy="3568358"/>
          </a:xfrm>
          <a:prstGeom prst="rect">
            <a:avLst/>
          </a:prstGeom>
        </p:spPr>
      </p:pic>
      <p:sp>
        <p:nvSpPr>
          <p:cNvPr id="6" name="작업별 결과 고르기"/>
          <p:cNvSpPr/>
          <p:nvPr/>
        </p:nvSpPr>
        <p:spPr>
          <a:xfrm>
            <a:off x="566928" y="5627077"/>
            <a:ext cx="1737360" cy="6858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4"/>
          <p:cNvSpPr txBox="1"/>
          <p:nvPr/>
        </p:nvSpPr>
        <p:spPr>
          <a:xfrm>
            <a:off x="566928" y="5627077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1  작업별 결과 고르기</a:t>
            </a:r>
            <a:endParaRPr lang="ko-KR" altLang="en-US" sz="1200" dirty="0"/>
          </a:p>
        </p:txBody>
      </p:sp>
      <p:sp>
        <p:nvSpPr>
          <p:cNvPr id="8" name="한마디 답 (선택)"/>
          <p:cNvSpPr/>
          <p:nvPr/>
        </p:nvSpPr>
        <p:spPr>
          <a:xfrm>
            <a:off x="2450592" y="5627077"/>
            <a:ext cx="1737360" cy="685800"/>
          </a:xfrm>
          <a:prstGeom prst="roundRect">
            <a:avLst>
              <a:gd name="adj" fmla="val 16000"/>
            </a:avLst>
          </a:prstGeom>
          <a:solidFill>
            <a:schemeClr val="accent4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6"/>
          <p:cNvSpPr txBox="1"/>
          <p:nvPr/>
        </p:nvSpPr>
        <p:spPr>
          <a:xfrm>
            <a:off x="2450592" y="5627077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b="1" dirty="0">
                <a:solidFill>
                  <a:schemeClr val="bg1"/>
                </a:solidFill>
              </a:rPr>
              <a:t>2  한마디 답 (선택)</a:t>
            </a:r>
            <a:endParaRPr lang="ko-KR" altLang="en-US" sz="1200" dirty="0"/>
          </a:p>
        </p:txBody>
      </p:sp>
      <p:sp>
        <p:nvSpPr>
          <p:cNvPr id="10" name="정리된 내용 확인"/>
          <p:cNvSpPr/>
          <p:nvPr/>
        </p:nvSpPr>
        <p:spPr>
          <a:xfrm>
            <a:off x="4334256" y="5627077"/>
            <a:ext cx="1737360" cy="6858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 txBox="1"/>
          <p:nvPr/>
        </p:nvSpPr>
        <p:spPr>
          <a:xfrm>
            <a:off x="4334256" y="5627077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b="1" dirty="0">
                <a:solidFill>
                  <a:schemeClr val="accent6"/>
                </a:solidFill>
              </a:rPr>
              <a:t>3  정리된 내용 확인</a:t>
            </a:r>
            <a:endParaRPr lang="ko-KR" alt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334256" y="6020269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다음 발표</a:t>
            </a:r>
            <a:endParaRPr lang="ko-KR" altLang="en-US" sz="1000" dirty="0"/>
          </a:p>
        </p:txBody>
      </p:sp>
      <p:sp>
        <p:nvSpPr>
          <p:cNvPr id="13" name="저장·누적"/>
          <p:cNvSpPr/>
          <p:nvPr/>
        </p:nvSpPr>
        <p:spPr>
          <a:xfrm>
            <a:off x="6217920" y="5627077"/>
            <a:ext cx="1737360" cy="685800"/>
          </a:xfrm>
          <a:prstGeom prst="roundRect">
            <a:avLst>
              <a:gd name="adj" fmla="val 16000"/>
            </a:avLst>
          </a:prstGeom>
          <a:solidFill>
            <a:schemeClr val="tx1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 txBox="1"/>
          <p:nvPr/>
        </p:nvSpPr>
        <p:spPr>
          <a:xfrm>
            <a:off x="6217920" y="5627077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200" b="1" dirty="0">
                <a:solidFill>
                  <a:schemeClr val="accent6"/>
                </a:solidFill>
              </a:rPr>
              <a:t>4  저장·누적</a:t>
            </a:r>
            <a:endParaRPr lang="ko-KR" alt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217920" y="6020269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 eaLnBrk="0">
              <a:buNone/>
            </a:pPr>
            <a:r>
              <a:rPr lang="ko-KR" altLang="en-US" sz="1000" dirty="0">
                <a:solidFill>
                  <a:schemeClr val="accent6"/>
                </a:solidFill>
              </a:rPr>
              <a:t>다음 발표</a:t>
            </a:r>
            <a:endParaRPr lang="ko-KR" alt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8229600" y="1783080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4756" y="1888236"/>
            <a:ext cx="210312" cy="21031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833104" y="1764792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플래너가 먼저 물어봄</a:t>
            </a:r>
            <a:endParaRPr lang="ko-KR" alt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8833104" y="2112264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프로젝트 대화 안에서 진행합니다</a:t>
            </a:r>
            <a:endParaRPr lang="ko-KR" alt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8229600" y="2807208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4756" y="2912364"/>
            <a:ext cx="210312" cy="21031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833104" y="2788920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분량부터 컨디션까지 한 번에</a:t>
            </a:r>
            <a:endParaRPr lang="ko-KR" altLang="en-US" sz="1500" dirty="0"/>
          </a:p>
        </p:txBody>
      </p:sp>
      <p:sp>
        <p:nvSpPr>
          <p:cNvPr id="23" name="Text 18"/>
          <p:cNvSpPr txBox="1"/>
          <p:nvPr/>
        </p:nvSpPr>
        <p:spPr>
          <a:xfrm>
            <a:off x="8833104" y="3136392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200" dirty="0">
                <a:solidFill>
                  <a:schemeClr val="bg2"/>
                </a:solidFill>
              </a:rPr>
              <a:t>분량·시간, 장소·분위기, </a:t>
            </a:r>
            <a:r>
              <a:rPr lang="ko-KR" altLang="en-US" sz="1200" dirty="0" err="1">
                <a:solidFill>
                  <a:schemeClr val="bg2"/>
                </a:solidFill>
              </a:rPr>
              <a:t>집중·컨디션</a:t>
            </a:r>
            <a:r>
              <a:rPr lang="ko-KR" altLang="en-US" sz="1200" dirty="0">
                <a:solidFill>
                  <a:schemeClr val="bg2"/>
                </a:solidFill>
              </a:rPr>
              <a:t> 등</a:t>
            </a:r>
            <a:endParaRPr lang="ko-KR" alt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229600" y="3831336"/>
            <a:ext cx="420624" cy="420624"/>
          </a:xfrm>
          <a:prstGeom prst="ellipse">
            <a:avLst/>
          </a:prstGeom>
          <a:solidFill>
            <a:schemeClr val="accent4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4756" y="3936492"/>
            <a:ext cx="210312" cy="21031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833104" y="3813048"/>
            <a:ext cx="28072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500" b="1" dirty="0">
                <a:solidFill>
                  <a:schemeClr val="bg1"/>
                </a:solidFill>
              </a:rPr>
              <a:t>사용자 성향에 대한 추가 질문</a:t>
            </a:r>
            <a:endParaRPr lang="ko-KR" alt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8833104" y="4160520"/>
            <a:ext cx="28072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eaLnBrk="0">
              <a:buFontTx/>
              <a:buChar char="-"/>
            </a:pPr>
            <a:r>
              <a:rPr lang="ko-KR" altLang="en-US" sz="1200" dirty="0">
                <a:solidFill>
                  <a:schemeClr val="bg2"/>
                </a:solidFill>
              </a:rPr>
              <a:t>피드백 반영에 도움을 줌</a:t>
            </a:r>
            <a:endParaRPr lang="en-US" altLang="ko-KR" sz="1200" dirty="0">
              <a:solidFill>
                <a:schemeClr val="bg2"/>
              </a:solidFill>
            </a:endParaRPr>
          </a:p>
          <a:p>
            <a:pPr eaLnBrk="0"/>
            <a:r>
              <a:rPr lang="en-US" altLang="ko-KR" sz="1200" dirty="0">
                <a:solidFill>
                  <a:schemeClr val="bg2"/>
                </a:solidFill>
              </a:rPr>
              <a:t>-  </a:t>
            </a:r>
            <a:r>
              <a:rPr lang="ko-KR" altLang="en-US" sz="1200" dirty="0">
                <a:solidFill>
                  <a:schemeClr val="bg2"/>
                </a:solidFill>
              </a:rPr>
              <a:t>답변 안 해도 무관함</a:t>
            </a:r>
            <a:endParaRPr lang="en-US" altLang="ko-KR" sz="1200" dirty="0">
              <a:solidFill>
                <a:schemeClr val="bg2"/>
              </a:solidFill>
            </a:endParaRPr>
          </a:p>
        </p:txBody>
      </p:sp>
      <p:sp>
        <p:nvSpPr>
          <p:cNvPr id="28" name="Text 22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endParaRPr lang="ko-KR" altLang="en-US" sz="11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11</a:t>
            </a:fld>
            <a:endParaRPr lang="ko-KR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548640" y="3657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1200" b="1" dirty="0">
                <a:solidFill>
                  <a:schemeClr val="accent2"/>
                </a:solidFill>
              </a:rPr>
              <a:t>05 · 현재까지와 남은 과제</a:t>
            </a:r>
            <a:endParaRPr lang="ko-KR" alt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676656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 eaLnBrk="0">
              <a:buNone/>
            </a:pPr>
            <a:r>
              <a:rPr lang="ko-KR" altLang="en-US" sz="3000" b="1" dirty="0">
                <a:solidFill>
                  <a:schemeClr val="bg1"/>
                </a:solidFill>
              </a:rPr>
              <a:t>현재는 체크인까지, 다음은 개인화의 정교화</a:t>
            </a:r>
            <a:endParaRPr lang="ko-KR" altLang="en-US" sz="3000" dirty="0"/>
          </a:p>
        </p:txBody>
      </p:sp>
      <p:sp>
        <p:nvSpPr>
          <p:cNvPr id="4" name="지금까지"/>
          <p:cNvSpPr/>
          <p:nvPr/>
        </p:nvSpPr>
        <p:spPr>
          <a:xfrm>
            <a:off x="548640" y="1645920"/>
            <a:ext cx="5440680" cy="374904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 w="9525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1097280" cy="27432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9525">
            <a:solidFill>
              <a:schemeClr val="accent3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874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지금까지</a:t>
            </a:r>
            <a:endParaRPr lang="ko-KR" alt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50008"/>
            <a:ext cx="256032" cy="25603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23408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온보딩 성향에 따른 사용자별 계획</a:t>
            </a:r>
            <a:endParaRPr lang="ko-KR" alt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35808"/>
            <a:ext cx="256032" cy="2560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34440" y="30266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공통 정보와 프로젝트 맥락 분리</a:t>
            </a:r>
            <a:endParaRPr lang="ko-KR" alt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721608"/>
            <a:ext cx="256032" cy="2560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34440" y="37124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가용 시간·마감 안 배치, 작업은 아는 만큼만 세분화</a:t>
            </a:r>
            <a:endParaRPr lang="ko-KR" alt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407408"/>
            <a:ext cx="256032" cy="25603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34440" y="43982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프로젝트 대화 안의 체크인 질문</a:t>
            </a:r>
            <a:endParaRPr lang="ko-KR" altLang="en-US" sz="1400" dirty="0"/>
          </a:p>
        </p:txBody>
      </p:sp>
      <p:sp>
        <p:nvSpPr>
          <p:cNvPr id="15" name="앞으로"/>
          <p:cNvSpPr/>
          <p:nvPr/>
        </p:nvSpPr>
        <p:spPr>
          <a:xfrm>
            <a:off x="6199632" y="1645920"/>
            <a:ext cx="5440680" cy="3749040"/>
          </a:xfrm>
          <a:prstGeom prst="roundRect">
            <a:avLst>
              <a:gd name="adj" fmla="val 2927"/>
            </a:avLst>
          </a:prstGeom>
          <a:solidFill>
            <a:schemeClr val="tx2"/>
          </a:solidFill>
          <a:ln w="1587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0"/>
          <p:cNvSpPr/>
          <p:nvPr/>
        </p:nvSpPr>
        <p:spPr>
          <a:xfrm>
            <a:off x="6473952" y="1874520"/>
            <a:ext cx="1737360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1"/>
          <p:cNvSpPr txBox="1"/>
          <p:nvPr/>
        </p:nvSpPr>
        <p:spPr>
          <a:xfrm>
            <a:off x="6473952" y="18745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 eaLnBrk="0">
              <a:buNone/>
            </a:pPr>
            <a:r>
              <a:rPr lang="ko-KR" altLang="en-US" sz="1100" b="1" dirty="0">
                <a:solidFill>
                  <a:schemeClr val="bg1"/>
                </a:solidFill>
              </a:rPr>
              <a:t>다음 발표 · 앞으로</a:t>
            </a:r>
            <a:endParaRPr lang="ko-KR" alt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350008"/>
            <a:ext cx="256032" cy="25603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885432" y="23408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체크인 답변 정리·확인·저장 시연</a:t>
            </a:r>
            <a:endParaRPr lang="ko-KR" altLang="en-US" sz="14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916936"/>
            <a:ext cx="256032" cy="25603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6885432" y="29077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알게 된 것 누적 → 말투·계획에 반영</a:t>
            </a:r>
            <a:endParaRPr lang="ko-KR" altLang="en-US" sz="140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3483864"/>
            <a:ext cx="256032" cy="256032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6885432" y="34747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추출한 내용이 실제 뜻과 맞는지 검증</a:t>
            </a:r>
            <a:endParaRPr lang="ko-KR" altLang="en-US" sz="1400" dirty="0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4050792"/>
            <a:ext cx="256032" cy="256032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6885432" y="40416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습관·실행 패턴의 장기 분석과 효과 검증</a:t>
            </a:r>
            <a:endParaRPr lang="ko-KR" altLang="en-US" sz="1400" dirty="0"/>
          </a:p>
        </p:txBody>
      </p:sp>
      <p:pic>
        <p:nvPicPr>
          <p:cNvPr id="26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4617720"/>
            <a:ext cx="256032" cy="256032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6885432" y="460857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eaLnBrk="0">
              <a:buNone/>
            </a:pPr>
            <a:r>
              <a:rPr lang="ko-KR" altLang="en-US" sz="1400" dirty="0">
                <a:solidFill>
                  <a:schemeClr val="bg1"/>
                </a:solidFill>
              </a:rPr>
              <a:t>체크인·계획 검토 UI</a:t>
            </a:r>
            <a:r>
              <a:rPr lang="en-US" altLang="ko-KR" sz="1400" dirty="0">
                <a:solidFill>
                  <a:schemeClr val="bg1"/>
                </a:solidFill>
              </a:rPr>
              <a:t>/UX</a:t>
            </a:r>
            <a:r>
              <a:rPr lang="ko-KR" altLang="en-US" sz="1400" dirty="0">
                <a:solidFill>
                  <a:schemeClr val="bg1"/>
                </a:solidFill>
              </a:rPr>
              <a:t> 개선</a:t>
            </a:r>
            <a:endParaRPr lang="ko-KR" altLang="en-US" sz="1400" dirty="0"/>
          </a:p>
        </p:txBody>
      </p:sp>
      <p:sp>
        <p:nvSpPr>
          <p:cNvPr id="28" name="Text 17"/>
          <p:cNvSpPr txBox="1"/>
          <p:nvPr/>
        </p:nvSpPr>
        <p:spPr>
          <a:xfrm>
            <a:off x="548640" y="562356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eaLnBrk="0">
              <a:buNone/>
            </a:pPr>
            <a:r>
              <a:rPr lang="ko-KR" altLang="en-US" sz="2000" b="1" dirty="0">
                <a:solidFill>
                  <a:schemeClr val="bg1"/>
                </a:solidFill>
              </a:rPr>
              <a:t>사용할수록 </a:t>
            </a:r>
            <a:r>
              <a:rPr lang="ko-KR" altLang="en-US" sz="2000" b="1" dirty="0">
                <a:solidFill>
                  <a:schemeClr val="accent2"/>
                </a:solidFill>
              </a:rPr>
              <a:t>나에게 맞는 실행 방법</a:t>
            </a:r>
            <a:r>
              <a:rPr lang="ko-KR" altLang="en-US" sz="2000" b="1" dirty="0">
                <a:solidFill>
                  <a:schemeClr val="bg1"/>
                </a:solidFill>
              </a:rPr>
              <a:t>을 함께 찾아가는 플래너를 지향합니다</a:t>
            </a:r>
            <a:endParaRPr lang="ko-KR" altLang="en-US" sz="20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 eaLnBrk="0"/>
            <a:fld id="{F7021451-1387-4CA6-816F-3879F97B5CBC}" type="slidenum">
              <a:rPr lang="ko-KR" altLang="en-US" b="0"/>
              <a:t>12</a:t>
            </a:fld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plan Linear Dark">
  <a:themeElements>
    <a:clrScheme name="Replan Linear Dark">
      <a:dk1>
        <a:srgbClr val="0D0E10"/>
      </a:dk1>
      <a:lt1>
        <a:srgbClr val="F7F8F8"/>
      </a:lt1>
      <a:dk2>
        <a:srgbClr val="16171A"/>
      </a:dk2>
      <a:lt2>
        <a:srgbClr val="A3A8B1"/>
      </a:lt2>
      <a:accent1>
        <a:srgbClr val="5E6AD2"/>
      </a:accent1>
      <a:accent2>
        <a:srgbClr val="828FFF"/>
      </a:accent2>
      <a:accent3>
        <a:srgbClr val="27A644"/>
      </a:accent3>
      <a:accent4>
        <a:srgbClr val="1E1F23"/>
      </a:accent4>
      <a:accent5>
        <a:srgbClr val="2C2E34"/>
      </a:accent5>
      <a:accent6>
        <a:srgbClr val="6B7079"/>
      </a:accent6>
      <a:hlink>
        <a:srgbClr val="828FFF"/>
      </a:hlink>
      <a:folHlink>
        <a:srgbClr val="A3A8B1"/>
      </a:folHlink>
    </a:clrScheme>
    <a:fontScheme name="Replan Linear Dark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1069</Words>
  <Application>Microsoft Office PowerPoint</Application>
  <PresentationFormat>와이드스크린</PresentationFormat>
  <Paragraphs>196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Malgun Gothic</vt:lpstr>
      <vt:lpstr>Arial</vt:lpstr>
      <vt:lpstr>Replan Linear Dark</vt:lpstr>
      <vt:lpstr>사용자가 어떤 작업 방식을 가지고 있는지 체크</vt:lpstr>
      <vt:lpstr>세부 내용이 아니라, 실행 방법을 맞춥니다</vt:lpstr>
      <vt:lpstr>공통 사용자 정보와 프로젝트 맥락의 분리</vt:lpstr>
      <vt:lpstr>설문으로 시작하고, 체크인으로 더 알아가기</vt:lpstr>
      <vt:lpstr>AI는 초안을 만들고, 시스템은 검증하고 저장합니다</vt:lpstr>
      <vt:lpstr>로그인 후 처음 한 번 하는 성향 설문지</vt:lpstr>
      <vt:lpstr>가용 시간은 설문이 아니라 매주 고릅니다</vt:lpstr>
      <vt:lpstr>프로젝트는 서로 독립된 데이터가 쌓이는 곳</vt:lpstr>
      <vt:lpstr>같은 요청, 한 번에 처리하는 양이 다릅니다</vt:lpstr>
      <vt:lpstr>확정한 계획은 캘린더에 들어감</vt:lpstr>
      <vt:lpstr>완료 여부와 함께, 플랜을 어떻게 실행했는지 질문</vt:lpstr>
      <vt:lpstr>현재는 체크인까지, 다음은 개인화의 정교화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Re:plan 4차 개발 진행 발표</dc:title>
  <dc:subject>PptxGenJS Presentation</dc:subject>
  <dc:creator>최현우</dc:creator>
  <cp:lastModifiedBy>최현우</cp:lastModifiedBy>
  <cp:revision>9</cp:revision>
  <dcterms:created xsi:type="dcterms:W3CDTF">2026-10-27T11:35:06Z</dcterms:created>
  <dcterms:modified xsi:type="dcterms:W3CDTF">2026-10-27T12:24:52Z</dcterms:modified>
</cp:coreProperties>
</file>