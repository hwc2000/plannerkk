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548640"/>
            <a:ext cx="329184" cy="329184"/>
          </a:xfrm>
          <a:prstGeom prst="roundRect">
            <a:avLst>
              <a:gd name="adj" fmla="val 32000"/>
            </a:avLst>
          </a:prstGeom>
          <a:solidFill>
            <a:srgbClr val="58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" y="51206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  <a:latin typeface="Malgun Gothic"/>
              </a:rPr>
              <a:t>re:plan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39935" y="548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E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200" b="1" dirty="0">
                <a:solidFill>
                  <a:srgbClr val="4542BE"/>
                </a:solidFill>
                <a:latin typeface="Malgun Gothic"/>
              </a:rPr>
              <a:t>1차 </a:t>
            </a:r>
            <a:r>
              <a:rPr sz="1200" b="1" dirty="0" err="1">
                <a:solidFill>
                  <a:srgbClr val="4542BE"/>
                </a:solidFill>
                <a:latin typeface="Malgun Gothic"/>
              </a:rPr>
              <a:t>발표</a:t>
            </a:r>
            <a:endParaRPr sz="1200" b="1" dirty="0">
              <a:solidFill>
                <a:srgbClr val="4542BE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542BE"/>
                </a:solidFill>
                <a:latin typeface="Malgun Gothic"/>
              </a:rPr>
              <a:t>TODAY · 3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87168"/>
            <a:ext cx="106984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111111"/>
                </a:solidFill>
                <a:latin typeface="Malgun Gothic"/>
              </a:rPr>
              <a:t>오늘은 </a:t>
            </a:r>
            <a:r>
              <a:rPr sz="4600" b="1">
                <a:solidFill>
                  <a:srgbClr val="5855D6"/>
                </a:solidFill>
                <a:latin typeface="Malgun Gothic"/>
              </a:rPr>
              <a:t>작게</a:t>
            </a:r>
            <a:r>
              <a:rPr sz="4600" b="1">
                <a:solidFill>
                  <a:srgbClr val="111111"/>
                </a:solidFill>
                <a:latin typeface="Malgun Gothic"/>
              </a:rPr>
              <a:t> 시작해도 충분해.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7128" y="3310128"/>
            <a:ext cx="1417320" cy="76200"/>
          </a:xfrm>
          <a:prstGeom prst="rect">
            <a:avLst/>
          </a:prstGeom>
          <a:solidFill>
            <a:srgbClr val="D8F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74151"/>
                </a:solidFill>
                <a:latin typeface="Malgun Gothic"/>
              </a:rPr>
              <a:t>실행 기록을 읽고 계획을 현실에 맞게 다시 조정해주는 AI 적응형 플래너, re:plan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709160"/>
            <a:ext cx="10817352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937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98989"/>
                </a:solidFill>
                <a:latin typeface="Malgun Gothic"/>
              </a:rPr>
              <a:t>발표자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30368"/>
            <a:ext cx="3657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 i="0" dirty="0">
                <a:solidFill>
                  <a:srgbClr val="111111"/>
                </a:solidFill>
                <a:latin typeface="Malgun Gothic"/>
              </a:rPr>
              <a:t>최</a:t>
            </a:r>
            <a:r>
              <a:rPr sz="1600" b="1" i="0" dirty="0">
                <a:solidFill>
                  <a:srgbClr val="111111"/>
                </a:solidFill>
                <a:latin typeface="Malgun Gothic"/>
              </a:rPr>
              <a:t>현우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937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98989"/>
                </a:solidFill>
                <a:latin typeface="Malgun Gothic"/>
              </a:rPr>
              <a:t>발표일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5230368"/>
            <a:ext cx="3657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11111"/>
                </a:solidFill>
                <a:latin typeface="Malgun Gothic"/>
              </a:rPr>
              <a:t>2026. 09. 1</a:t>
            </a:r>
            <a:r>
              <a:rPr lang="en-US" sz="1600" b="1" i="0" dirty="0">
                <a:solidFill>
                  <a:srgbClr val="111111"/>
                </a:solidFill>
                <a:latin typeface="Malgun Gothic"/>
              </a:rPr>
              <a:t>6</a:t>
            </a:r>
            <a:endParaRPr sz="1600" b="1" i="0" dirty="0">
              <a:solidFill>
                <a:srgbClr val="111111"/>
              </a:solidFill>
              <a:latin typeface="Malgun Gothi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40680" y="4937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98989"/>
                </a:solidFill>
                <a:latin typeface="Malgun Gothic"/>
              </a:rPr>
              <a:t>발표 범위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23036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  <a:latin typeface="Malgun Gothic"/>
              </a:rPr>
              <a:t>아이디어 제안 · 기대 효과 · UI 설계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37F32C-737A-B89F-7737-3FCC46FA841E}"/>
              </a:ext>
            </a:extLst>
          </p:cNvPr>
          <p:cNvSpPr txBox="1"/>
          <p:nvPr/>
        </p:nvSpPr>
        <p:spPr>
          <a:xfrm>
            <a:off x="9953850" y="4919472"/>
            <a:ext cx="103860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898989"/>
                </a:solidFill>
                <a:latin typeface="Malgun Gothic"/>
              </a:rPr>
              <a:t>조원</a:t>
            </a:r>
            <a:endParaRPr sz="1100" b="1" i="0" dirty="0">
              <a:solidFill>
                <a:srgbClr val="898989"/>
              </a:solidFill>
              <a:latin typeface="Malgun Gothic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8E2C19-A375-5D62-0580-FF0816CBC992}"/>
              </a:ext>
            </a:extLst>
          </p:cNvPr>
          <p:cNvSpPr txBox="1"/>
          <p:nvPr/>
        </p:nvSpPr>
        <p:spPr>
          <a:xfrm>
            <a:off x="9953850" y="5186648"/>
            <a:ext cx="1039695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 i="0" dirty="0">
                <a:solidFill>
                  <a:srgbClr val="111111"/>
                </a:solidFill>
                <a:latin typeface="Malgun Gothic"/>
              </a:rPr>
              <a:t>이준현</a:t>
            </a:r>
            <a:endParaRPr lang="en-US" altLang="ko-KR" sz="1600" b="1" i="0" dirty="0">
              <a:solidFill>
                <a:srgbClr val="111111"/>
              </a:solidFill>
              <a:latin typeface="Malgun Gothic"/>
            </a:endParaRPr>
          </a:p>
          <a:p>
            <a:pPr algn="l"/>
            <a:endParaRPr lang="en-US" altLang="ko-KR" sz="800" b="1" i="0" dirty="0">
              <a:solidFill>
                <a:srgbClr val="111111"/>
              </a:solidFill>
              <a:latin typeface="Malgun Gothic"/>
            </a:endParaRPr>
          </a:p>
          <a:p>
            <a:pPr algn="l"/>
            <a:r>
              <a:rPr lang="ko-KR" altLang="en-US" sz="1600" b="1" dirty="0">
                <a:solidFill>
                  <a:srgbClr val="111111"/>
                </a:solidFill>
                <a:latin typeface="Malgun Gothic"/>
              </a:rPr>
              <a:t>최민서</a:t>
            </a:r>
            <a:endParaRPr lang="en-US" altLang="ko-KR" sz="1600" b="1" dirty="0">
              <a:solidFill>
                <a:srgbClr val="111111"/>
              </a:solidFill>
              <a:latin typeface="Malgun Gothic"/>
            </a:endParaRPr>
          </a:p>
          <a:p>
            <a:pPr algn="l"/>
            <a:endParaRPr lang="en-US" altLang="ko-KR" sz="800" b="1" dirty="0">
              <a:solidFill>
                <a:srgbClr val="111111"/>
              </a:solidFill>
              <a:latin typeface="Malgun Gothic"/>
            </a:endParaRPr>
          </a:p>
          <a:p>
            <a:pPr algn="l"/>
            <a:r>
              <a:rPr lang="ko-KR" altLang="en-US" sz="1600" b="1" i="0" dirty="0">
                <a:solidFill>
                  <a:srgbClr val="111111"/>
                </a:solidFill>
                <a:latin typeface="Malgun Gothic"/>
              </a:rPr>
              <a:t>최</a:t>
            </a:r>
            <a:r>
              <a:rPr sz="1600" b="1" i="0" dirty="0">
                <a:solidFill>
                  <a:srgbClr val="111111"/>
                </a:solidFill>
                <a:latin typeface="Malgun Gothic"/>
              </a:rPr>
              <a:t>현우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542BE"/>
                </a:solidFill>
                <a:latin typeface="Malgun Gothic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569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11111"/>
                </a:solidFill>
                <a:latin typeface="Malgun Gothic"/>
              </a:rPr>
              <a:t>오늘 발표에서 다룰 내용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525780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5256" y="191109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58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  <a:latin typeface="Malgun Gothic"/>
              </a:rPr>
              <a:t>문제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58568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기존 플래너와 to-do 앱의 한계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90088"/>
            <a:ext cx="525780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5256" y="3209544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B86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7296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  <a:latin typeface="Malgun Gothic"/>
              </a:rPr>
              <a:t>아이디어 제안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557016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re:plan의 핵심 컨셉 한 줄 정의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88536"/>
            <a:ext cx="525780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5256" y="4507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58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471416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  <a:latin typeface="Malgun Gothic"/>
              </a:rPr>
              <a:t>핵심 기능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855464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오늘의 플로우 · 체크인 · 기억 · 전체 계획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691640"/>
            <a:ext cx="525780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64808" y="191109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B86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187452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  <a:latin typeface="Malgun Gothic"/>
              </a:rPr>
              <a:t>차별점과 기대 효과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2258568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기존 앱과 무엇이, 왜 다른가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2990088"/>
            <a:ext cx="525780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64808" y="3209544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58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17296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  <a:latin typeface="Malgun Gothic"/>
              </a:rPr>
              <a:t>UI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3557016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실제 구현된 화면 3가지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4288536"/>
            <a:ext cx="5257800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64808" y="4507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B86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471416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  <a:latin typeface="Malgun Gothic"/>
              </a:rPr>
              <a:t>다음 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4855464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다음 발표까지의 로드맵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08615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898989"/>
                </a:solidFill>
                <a:latin typeface="Malgun Gothic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542BE"/>
                </a:solidFill>
                <a:latin typeface="Malgun Gothic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457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dirty="0" err="1">
                <a:solidFill>
                  <a:srgbClr val="111111"/>
                </a:solidFill>
                <a:latin typeface="Malgun Gothic"/>
              </a:rPr>
              <a:t>계획은</a:t>
            </a:r>
            <a:r>
              <a:rPr sz="3000" b="1" i="0" dirty="0">
                <a:solidFill>
                  <a:srgbClr val="111111"/>
                </a:solidFill>
                <a:latin typeface="Malgun Gothic"/>
              </a:rPr>
              <a:t> </a:t>
            </a:r>
            <a:r>
              <a:rPr sz="3000" b="1" i="0" dirty="0" err="1">
                <a:solidFill>
                  <a:srgbClr val="111111"/>
                </a:solidFill>
                <a:latin typeface="Malgun Gothic"/>
              </a:rPr>
              <a:t>세우지만</a:t>
            </a:r>
            <a:r>
              <a:rPr sz="3000" b="1" i="0" dirty="0">
                <a:solidFill>
                  <a:srgbClr val="111111"/>
                </a:solidFill>
                <a:latin typeface="Malgun Gothic"/>
              </a:rPr>
              <a:t>, </a:t>
            </a:r>
            <a:r>
              <a:rPr sz="3000" b="1" i="0" dirty="0" err="1">
                <a:solidFill>
                  <a:srgbClr val="111111"/>
                </a:solidFill>
                <a:latin typeface="Malgun Gothic"/>
              </a:rPr>
              <a:t>실행은</a:t>
            </a:r>
            <a:r>
              <a:rPr sz="3000" b="1" i="0" dirty="0">
                <a:solidFill>
                  <a:srgbClr val="111111"/>
                </a:solidFill>
                <a:latin typeface="Malgun Gothic"/>
              </a:rPr>
              <a:t> </a:t>
            </a:r>
            <a:r>
              <a:rPr lang="ko-KR" altLang="en-US" sz="3000" b="1" dirty="0" err="1">
                <a:solidFill>
                  <a:srgbClr val="111111"/>
                </a:solidFill>
                <a:latin typeface="Malgun Gothic"/>
              </a:rPr>
              <a:t>힘듬</a:t>
            </a:r>
            <a:r>
              <a:rPr sz="3000" b="1" i="0" dirty="0">
                <a:solidFill>
                  <a:srgbClr val="111111"/>
                </a:solidFill>
                <a:latin typeface="Malgun Gothic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3401568" cy="329184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20" y="224028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71800"/>
            <a:ext cx="28529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Malgun Gothic"/>
              </a:rPr>
              <a:t>계획–실행 괴리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465576"/>
            <a:ext cx="502920" cy="63500"/>
          </a:xfrm>
          <a:prstGeom prst="rect">
            <a:avLst/>
          </a:prstGeom>
          <a:solidFill>
            <a:srgbClr val="FFB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749040"/>
            <a:ext cx="2852928" cy="508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촘촘하게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짠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계획일수록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하루가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계획대로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안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풀리는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순간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그대로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무너</a:t>
            </a:r>
            <a:r>
              <a:rPr lang="ko-KR" altLang="en-US" sz="1300" b="0" i="0" dirty="0">
                <a:solidFill>
                  <a:srgbClr val="374151"/>
                </a:solidFill>
                <a:latin typeface="Malgun Gothic"/>
              </a:rPr>
              <a:t>짐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65960"/>
            <a:ext cx="3401568" cy="329184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63440" y="224028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71800"/>
            <a:ext cx="28529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Malgun Gothic"/>
              </a:rPr>
              <a:t>높은 시작 부담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465576"/>
            <a:ext cx="502920" cy="63500"/>
          </a:xfrm>
          <a:prstGeom prst="rect">
            <a:avLst/>
          </a:prstGeom>
          <a:solidFill>
            <a:srgbClr val="58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3749040"/>
            <a:ext cx="2852928" cy="508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 dirty="0">
                <a:solidFill>
                  <a:srgbClr val="374151"/>
                </a:solidFill>
                <a:latin typeface="Malgun Gothic"/>
              </a:rPr>
              <a:t>할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일이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크게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뭉쳐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있으면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어디서부터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시작할지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몰라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계속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미루게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lang="ko-KR" altLang="en-US" sz="1300" dirty="0">
                <a:solidFill>
                  <a:srgbClr val="374151"/>
                </a:solidFill>
                <a:latin typeface="Malgun Gothic"/>
              </a:rPr>
              <a:t>됨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65960"/>
            <a:ext cx="3401568" cy="329184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66760" y="224028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971800"/>
            <a:ext cx="28529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Malgun Gothic"/>
              </a:rPr>
              <a:t>재설계의 악순환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3465576"/>
            <a:ext cx="502920" cy="63500"/>
          </a:xfrm>
          <a:prstGeom prst="rect">
            <a:avLst/>
          </a:prstGeom>
          <a:solidFill>
            <a:srgbClr val="31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3749040"/>
            <a:ext cx="2852928" cy="508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 dirty="0">
                <a:solidFill>
                  <a:srgbClr val="374151"/>
                </a:solidFill>
                <a:latin typeface="Malgun Gothic"/>
              </a:rPr>
              <a:t>한 번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밀리면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계획을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다시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세울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엄두가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안 나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결국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전체를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374151"/>
                </a:solidFill>
                <a:latin typeface="Malgun Gothic"/>
              </a:rPr>
              <a:t>포기하게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lang="ko-KR" altLang="en-US" sz="1300" dirty="0">
                <a:solidFill>
                  <a:srgbClr val="374151"/>
                </a:solidFill>
                <a:latin typeface="Malgun Gothic"/>
              </a:rPr>
              <a:t>됨</a:t>
            </a:r>
            <a:r>
              <a:rPr sz="1300" b="0" i="0" dirty="0">
                <a:solidFill>
                  <a:srgbClr val="374151"/>
                </a:solidFill>
                <a:latin typeface="Malgun Gothic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408615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898989"/>
                </a:solidFill>
                <a:latin typeface="Malgun Gothic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542BE"/>
                </a:solidFill>
                <a:latin typeface="Malgun Gothic"/>
              </a:rPr>
              <a:t>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11111"/>
                </a:solidFill>
                <a:latin typeface="Malgun Gothic"/>
              </a:rPr>
              <a:t>re:plan — 실행 기록을 읽고</a:t>
            </a:r>
          </a:p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11111"/>
                </a:solidFill>
                <a:latin typeface="Malgun Gothic"/>
              </a:rPr>
              <a:t>계획을 다시 맞추는 AI 플래너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6035040" cy="899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매번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처음부터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계획을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새로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짜는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대신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,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오늘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실제로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한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일과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못한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이유를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짧게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남기면</a:t>
            </a:r>
            <a:endParaRPr sz="1450" b="0" i="0" dirty="0">
              <a:solidFill>
                <a:srgbClr val="374151"/>
              </a:solidFill>
              <a:latin typeface="Malgun Gothic"/>
            </a:endParaRPr>
          </a:p>
          <a:p>
            <a:pPr algn="l">
              <a:lnSpc>
                <a:spcPct val="140000"/>
              </a:lnSpc>
            </a:pP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AI가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이를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바탕으로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다음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계획을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현실적인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흐름으로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다시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450" b="0" i="0" dirty="0" err="1">
                <a:solidFill>
                  <a:srgbClr val="374151"/>
                </a:solidFill>
                <a:latin typeface="Malgun Gothic"/>
              </a:rPr>
              <a:t>제안</a:t>
            </a:r>
            <a:r>
              <a:rPr lang="ko-KR" altLang="en-US" sz="1450" b="0" i="0" dirty="0">
                <a:solidFill>
                  <a:srgbClr val="374151"/>
                </a:solidFill>
                <a:latin typeface="Malgun Gothic"/>
              </a:rPr>
              <a:t>함</a:t>
            </a:r>
            <a:r>
              <a:rPr sz="1450" b="0" i="0" dirty="0">
                <a:solidFill>
                  <a:srgbClr val="374151"/>
                </a:solidFill>
                <a:latin typeface="Malgun Gothic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639312"/>
            <a:ext cx="6035040" cy="1042415"/>
          </a:xfrm>
          <a:prstGeom prst="roundRect">
            <a:avLst>
              <a:gd name="adj" fmla="val 10000"/>
            </a:avLst>
          </a:prstGeom>
          <a:solidFill>
            <a:srgbClr val="E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3785615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542BE"/>
                </a:solidFill>
                <a:latin typeface="Malgun Gothic"/>
              </a:rPr>
              <a:t>PERSONALIZATION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059936"/>
            <a:ext cx="5532120" cy="64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온보딩에서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생활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패턴과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선호를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먼저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파악하고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,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플랜을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완료할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때마다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최근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기록에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더 큰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가중치를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둬</a:t>
            </a:r>
          </a:p>
          <a:p>
            <a:pPr algn="l">
              <a:lnSpc>
                <a:spcPct val="125000"/>
              </a:lnSpc>
            </a:pP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프로필을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갱신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—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쓸수록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나에게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더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익숙하고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최적화된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플랜을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374151"/>
                </a:solidFill>
                <a:latin typeface="Malgun Gothic"/>
              </a:rPr>
              <a:t>제안</a:t>
            </a:r>
            <a:r>
              <a:rPr lang="ko-KR" altLang="en-US" sz="1150" b="0" i="0" dirty="0">
                <a:solidFill>
                  <a:srgbClr val="374151"/>
                </a:solidFill>
                <a:latin typeface="Malgun Gothic"/>
              </a:rPr>
              <a:t>함</a:t>
            </a:r>
            <a:r>
              <a:rPr sz="1150" b="0" i="0" dirty="0">
                <a:solidFill>
                  <a:srgbClr val="374151"/>
                </a:solidFill>
                <a:latin typeface="Malgun Gothic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92040"/>
            <a:ext cx="23317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6968" y="50749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58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5495544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Malgun Gothic"/>
              </a:rPr>
              <a:t>계획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5806440"/>
            <a:ext cx="1965960" cy="368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dirty="0" err="1">
                <a:solidFill>
                  <a:srgbClr val="6B7280"/>
                </a:solidFill>
                <a:latin typeface="Malgun Gothic"/>
              </a:rPr>
              <a:t>짧게</a:t>
            </a:r>
            <a:r>
              <a:rPr sz="10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Malgun Gothic"/>
              </a:rPr>
              <a:t>목표와</a:t>
            </a:r>
            <a:endParaRPr sz="1050" b="0" i="0" dirty="0">
              <a:solidFill>
                <a:srgbClr val="6B7280"/>
              </a:solidFill>
              <a:latin typeface="Malgun Gothic"/>
            </a:endParaRPr>
          </a:p>
          <a:p>
            <a:pPr algn="l">
              <a:lnSpc>
                <a:spcPct val="120000"/>
              </a:lnSpc>
            </a:pPr>
            <a:r>
              <a:rPr sz="1050" b="0" i="0" dirty="0" err="1">
                <a:solidFill>
                  <a:srgbClr val="6B7280"/>
                </a:solidFill>
                <a:latin typeface="Malgun Gothic"/>
              </a:rPr>
              <a:t>오늘</a:t>
            </a:r>
            <a:r>
              <a:rPr sz="1050" b="0" i="0" dirty="0">
                <a:solidFill>
                  <a:srgbClr val="6B7280"/>
                </a:solidFill>
                <a:latin typeface="Malgun Gothic"/>
              </a:rPr>
              <a:t> 할 </a:t>
            </a:r>
            <a:r>
              <a:rPr sz="1050" b="0" i="0" dirty="0" err="1">
                <a:solidFill>
                  <a:srgbClr val="6B7280"/>
                </a:solidFill>
                <a:latin typeface="Malgun Gothic"/>
              </a:rPr>
              <a:t>일을</a:t>
            </a:r>
            <a:r>
              <a:rPr sz="1050" b="0" i="0" dirty="0">
                <a:solidFill>
                  <a:srgbClr val="6B7280"/>
                </a:solidFill>
                <a:latin typeface="Malgun Gothic"/>
              </a:rPr>
              <a:t> 적</a:t>
            </a:r>
            <a:r>
              <a:rPr lang="ko-KR" altLang="en-US" sz="1050" b="0" i="0" dirty="0">
                <a:solidFill>
                  <a:srgbClr val="6B7280"/>
                </a:solidFill>
                <a:latin typeface="Malgun Gothic"/>
              </a:rPr>
              <a:t>음</a:t>
            </a:r>
            <a:endParaRPr sz="1050" b="0" i="0" dirty="0">
              <a:solidFill>
                <a:srgbClr val="6B7280"/>
              </a:solidFill>
              <a:latin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72384" y="53949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4892040"/>
            <a:ext cx="23317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904488" y="50749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B86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04488" y="5495544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Malgun Gothic"/>
              </a:rPr>
              <a:t>실행 · 체크인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8" y="5806440"/>
            <a:ext cx="1965960" cy="368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dirty="0" err="1">
                <a:solidFill>
                  <a:srgbClr val="6B7280"/>
                </a:solidFill>
                <a:latin typeface="Malgun Gothic"/>
              </a:rPr>
              <a:t>완료·일부</a:t>
            </a:r>
            <a:r>
              <a:rPr sz="10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Malgun Gothic"/>
              </a:rPr>
              <a:t>완료·미룸과</a:t>
            </a:r>
            <a:endParaRPr sz="1050" b="0" i="0" dirty="0">
              <a:solidFill>
                <a:srgbClr val="6B7280"/>
              </a:solidFill>
              <a:latin typeface="Malgun Gothic"/>
            </a:endParaRPr>
          </a:p>
          <a:p>
            <a:pPr algn="l">
              <a:lnSpc>
                <a:spcPct val="120000"/>
              </a:lnSpc>
            </a:pPr>
            <a:r>
              <a:rPr sz="1050" b="0" i="0" dirty="0" err="1">
                <a:solidFill>
                  <a:srgbClr val="6B7280"/>
                </a:solidFill>
                <a:latin typeface="Malgun Gothic"/>
              </a:rPr>
              <a:t>이유를</a:t>
            </a:r>
            <a:r>
              <a:rPr sz="1050" b="0" i="0" dirty="0">
                <a:solidFill>
                  <a:srgbClr val="6B7280"/>
                </a:solidFill>
                <a:latin typeface="Malgun Gothic"/>
              </a:rPr>
              <a:t> 남</a:t>
            </a:r>
            <a:r>
              <a:rPr lang="ko-KR" altLang="en-US" sz="1050" b="0" i="0" dirty="0">
                <a:solidFill>
                  <a:srgbClr val="6B7280"/>
                </a:solidFill>
                <a:latin typeface="Malgun Gothic"/>
              </a:rPr>
              <a:t>김</a:t>
            </a:r>
            <a:endParaRPr sz="1050" b="0" i="0" dirty="0">
              <a:solidFill>
                <a:srgbClr val="6B7280"/>
              </a:solidFill>
              <a:latin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89904" y="53949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4892040"/>
            <a:ext cx="23317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922008" y="50749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31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22008" y="5495544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Malgun Gothic"/>
              </a:rPr>
              <a:t>AI 재조정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5806440"/>
            <a:ext cx="1965960" cy="368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dirty="0" err="1">
                <a:solidFill>
                  <a:srgbClr val="6B7280"/>
                </a:solidFill>
                <a:latin typeface="Malgun Gothic"/>
              </a:rPr>
              <a:t>누적된</a:t>
            </a:r>
            <a:r>
              <a:rPr sz="10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Malgun Gothic"/>
              </a:rPr>
              <a:t>성향을</a:t>
            </a:r>
            <a:r>
              <a:rPr sz="10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Malgun Gothic"/>
              </a:rPr>
              <a:t>반영해</a:t>
            </a:r>
            <a:endParaRPr sz="1050" b="0" i="0" dirty="0">
              <a:solidFill>
                <a:srgbClr val="6B7280"/>
              </a:solidFill>
              <a:latin typeface="Malgun Gothic"/>
            </a:endParaRPr>
          </a:p>
          <a:p>
            <a:pPr algn="l">
              <a:lnSpc>
                <a:spcPct val="120000"/>
              </a:lnSpc>
            </a:pPr>
            <a:r>
              <a:rPr sz="1050" b="0" i="0" dirty="0" err="1">
                <a:solidFill>
                  <a:srgbClr val="6B7280"/>
                </a:solidFill>
                <a:latin typeface="Malgun Gothic"/>
              </a:rPr>
              <a:t>다음</a:t>
            </a:r>
            <a:r>
              <a:rPr sz="10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Malgun Gothic"/>
              </a:rPr>
              <a:t>계획을</a:t>
            </a:r>
            <a:r>
              <a:rPr sz="10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Malgun Gothic"/>
              </a:rPr>
              <a:t>다시</a:t>
            </a:r>
            <a:r>
              <a:rPr sz="10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050" b="0" i="0" dirty="0" err="1">
                <a:solidFill>
                  <a:srgbClr val="6B7280"/>
                </a:solidFill>
                <a:latin typeface="Malgun Gothic"/>
              </a:rPr>
              <a:t>제안</a:t>
            </a:r>
            <a:r>
              <a:rPr lang="ko-KR" altLang="en-US" sz="1050" b="0" i="0" dirty="0">
                <a:solidFill>
                  <a:srgbClr val="6B7280"/>
                </a:solidFill>
                <a:latin typeface="Malgun Gothic"/>
              </a:rPr>
              <a:t>함</a:t>
            </a:r>
            <a:endParaRPr sz="1050" b="0" i="0" dirty="0">
              <a:solidFill>
                <a:srgbClr val="6B7280"/>
              </a:solidFill>
              <a:latin typeface="Malgun Gothic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60920" y="1371600"/>
            <a:ext cx="4160520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40000" dist="32000" dir="5400000" rotWithShape="0">
              <a:srgbClr val="1A1A1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562088" y="15179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63256" y="15179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964424" y="15179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plannerkk-to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12" y="1815655"/>
            <a:ext cx="3831336" cy="2394585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27" name="Rectangle 26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08615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898989"/>
                </a:solidFill>
                <a:latin typeface="Malgun Gothic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542BE"/>
                </a:solidFill>
                <a:latin typeface="Malgun Gothic"/>
              </a:rP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569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11111"/>
                </a:solidFill>
                <a:latin typeface="Malgun Gothic"/>
              </a:rPr>
              <a:t>핵심 기능 4가지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52578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41832" y="2039112"/>
            <a:ext cx="475488" cy="475488"/>
          </a:xfrm>
          <a:prstGeom prst="roundRect">
            <a:avLst>
              <a:gd name="adj" fmla="val 32000"/>
            </a:avLst>
          </a:prstGeom>
          <a:solidFill>
            <a:srgbClr val="58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20824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  <a:latin typeface="Malgun Gothic"/>
              </a:rPr>
              <a:t>오늘의 플로우 + AI 코치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468880"/>
            <a:ext cx="4069080" cy="453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타임라인으로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오늘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할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일을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보여주고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,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막히면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AI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코치에게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바로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물어</a:t>
            </a:r>
            <a:r>
              <a:rPr lang="ko-KR" altLang="en-US" sz="1200" b="0" i="0" dirty="0">
                <a:solidFill>
                  <a:srgbClr val="374151"/>
                </a:solidFill>
                <a:latin typeface="Malgun Gothic"/>
              </a:rPr>
              <a:t>봄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783080"/>
            <a:ext cx="52578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01384" y="2039112"/>
            <a:ext cx="475488" cy="475488"/>
          </a:xfrm>
          <a:prstGeom prst="roundRect">
            <a:avLst>
              <a:gd name="adj" fmla="val 32000"/>
            </a:avLst>
          </a:prstGeom>
          <a:solidFill>
            <a:srgbClr val="B86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2020824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  <a:latin typeface="Malgun Gothic"/>
              </a:rPr>
              <a:t>빠른 체크인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9752" y="2468880"/>
            <a:ext cx="4069080" cy="21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완료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·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일부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완료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·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미룸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중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하나를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고르고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이유를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짧게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남</a:t>
            </a:r>
            <a:r>
              <a:rPr lang="ko-KR" altLang="en-US" sz="1200" b="0" i="0" dirty="0">
                <a:solidFill>
                  <a:srgbClr val="374151"/>
                </a:solidFill>
                <a:latin typeface="Malgun Gothic"/>
              </a:rPr>
              <a:t>김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22192"/>
            <a:ext cx="52578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" y="4078224"/>
            <a:ext cx="475488" cy="475488"/>
          </a:xfrm>
          <a:prstGeom prst="roundRect">
            <a:avLst>
              <a:gd name="adj" fmla="val 32000"/>
            </a:avLst>
          </a:prstGeom>
          <a:solidFill>
            <a:srgbClr val="58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059936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  <a:latin typeface="Malgun Gothic"/>
              </a:rPr>
              <a:t>승인 기반 기억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07992"/>
            <a:ext cx="4069080" cy="453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체크인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기록에서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성향과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습관을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학습해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제안하고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,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승인해야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프로필에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누적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반영</a:t>
            </a:r>
            <a:r>
              <a:rPr lang="ko-KR" altLang="en-US" sz="1200" b="0" i="0" dirty="0">
                <a:solidFill>
                  <a:srgbClr val="374151"/>
                </a:solidFill>
                <a:latin typeface="Malgun Gothic"/>
              </a:rPr>
              <a:t>됨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822192"/>
            <a:ext cx="52578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01384" y="4078224"/>
            <a:ext cx="475488" cy="475488"/>
          </a:xfrm>
          <a:prstGeom prst="roundRect">
            <a:avLst>
              <a:gd name="adj" fmla="val 32000"/>
            </a:avLst>
          </a:prstGeom>
          <a:solidFill>
            <a:srgbClr val="B86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4059936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  <a:latin typeface="Malgun Gothic"/>
              </a:rPr>
              <a:t>전체 계획(포트폴리오)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4507992"/>
            <a:ext cx="4069080" cy="453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여러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목표의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기간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경과율과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실제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달성률을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비교해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,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조정이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필요한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목표부터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374151"/>
                </a:solidFill>
                <a:latin typeface="Malgun Gothic"/>
              </a:rPr>
              <a:t>보여</a:t>
            </a:r>
            <a:r>
              <a:rPr lang="ko-KR" altLang="en-US" sz="1200" b="0" i="0" dirty="0">
                <a:solidFill>
                  <a:srgbClr val="374151"/>
                </a:solidFill>
                <a:latin typeface="Malgun Gothic"/>
              </a:rPr>
              <a:t>줌</a:t>
            </a:r>
            <a:r>
              <a:rPr sz="1200" b="0" i="0" dirty="0">
                <a:solidFill>
                  <a:srgbClr val="374151"/>
                </a:solidFill>
                <a:latin typeface="Malgun Gothic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08615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898989"/>
                </a:solidFill>
                <a:latin typeface="Malgun Gothic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542BE"/>
                </a:solidFill>
                <a:latin typeface="Malgun Gothic"/>
              </a:rP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569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11111"/>
                </a:solidFill>
                <a:latin typeface="Malgun Gothic"/>
              </a:rPr>
              <a:t>기존 to-do 앱과 무엇이 다른가요?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874519" cy="5029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19" y="1783080"/>
            <a:ext cx="420624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66559" y="1783080"/>
            <a:ext cx="4206240" cy="502920"/>
          </a:xfrm>
          <a:prstGeom prst="rect">
            <a:avLst/>
          </a:prstGeom>
          <a:solidFill>
            <a:srgbClr val="E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6001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Malgun Gothic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199" y="178308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Malgun Gothic"/>
              </a:rPr>
              <a:t>기존 to-do 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39" y="178308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542BE"/>
                </a:solidFill>
                <a:latin typeface="Malgun Gothic"/>
              </a:rPr>
              <a:t>re:plan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86000"/>
            <a:ext cx="10286999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F0F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160019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Malgun Gothic"/>
              </a:rPr>
              <a:t>계획 수립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199" y="2286000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한 번 세우면 고정, 어긋나도 그대로 방치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39" y="2286000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11111"/>
                </a:solidFill>
                <a:latin typeface="Malgun Gothic"/>
              </a:rPr>
              <a:t>실행 기록을 바탕으로 계속 현실에 맞게 재조정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154680"/>
            <a:ext cx="10286999" cy="868680"/>
          </a:xfrm>
          <a:prstGeom prst="rect">
            <a:avLst/>
          </a:prstGeom>
          <a:solidFill>
            <a:srgbClr val="F8F9FA"/>
          </a:solidFill>
          <a:ln w="9525">
            <a:solidFill>
              <a:srgbClr val="F0F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154680"/>
            <a:ext cx="160019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Malgun Gothic"/>
              </a:rPr>
              <a:t>실패 대응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199" y="3154680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실패해도 별다른 안내 없이 목록만 남음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39" y="3154680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11111"/>
                </a:solidFill>
                <a:latin typeface="Malgun Gothic"/>
              </a:rPr>
              <a:t>체크인으로 이유를 남기면 회복 계획을 제안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023360"/>
            <a:ext cx="10286999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F0F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160019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Malgun Gothic"/>
              </a:rPr>
              <a:t>기억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199" y="4023360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반복 실패 패턴을 시스템이 기억하지 않음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39" y="4023360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11111"/>
                </a:solidFill>
                <a:latin typeface="Malgun Gothic"/>
              </a:rPr>
              <a:t>쓸수록 성향·습관을 학습해 승인 기반으로 프로필에 누적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10286999" cy="868680"/>
          </a:xfrm>
          <a:prstGeom prst="rect">
            <a:avLst/>
          </a:prstGeom>
          <a:solidFill>
            <a:srgbClr val="F8F9FA"/>
          </a:solidFill>
          <a:ln w="9525">
            <a:solidFill>
              <a:srgbClr val="F0F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892040"/>
            <a:ext cx="160019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Malgun Gothic"/>
              </a:rPr>
              <a:t>동기 부여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199" y="4892040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Malgun Gothic"/>
              </a:rPr>
              <a:t>막히면 사용자가 스스로 재정비해야 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39" y="4892040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11111"/>
                </a:solidFill>
                <a:latin typeface="Malgun Gothic"/>
              </a:rPr>
              <a:t>AI 코치가 지금 할 수 있는 최소 행동을 제안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1783080"/>
            <a:ext cx="10286999" cy="3977640"/>
          </a:xfrm>
          <a:prstGeom prst="rect">
            <a:avLst/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08615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898989"/>
                </a:solidFill>
                <a:latin typeface="Malgun Gothic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542BE"/>
                </a:solidFill>
                <a:latin typeface="Malgun Gothic"/>
              </a:rPr>
              <a:t>EXPECTED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569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11111"/>
                </a:solidFill>
                <a:latin typeface="Malgun Gothic"/>
              </a:rPr>
              <a:t>re:plan이 만드는 변화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340156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3401568" cy="91440"/>
          </a:xfrm>
          <a:prstGeom prst="roundRect">
            <a:avLst>
              <a:gd name="adj" fmla="val 0"/>
            </a:avLst>
          </a:prstGeom>
          <a:solidFill>
            <a:srgbClr val="58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8529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 i="0">
                <a:solidFill>
                  <a:srgbClr val="111111"/>
                </a:solidFill>
                <a:latin typeface="Malgun Gothic"/>
              </a:rPr>
              <a:t>완료율 상승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34640"/>
            <a:ext cx="2852928" cy="489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부담을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낮춘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최소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행동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제안으로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시작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장벽을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낮</a:t>
            </a:r>
            <a:r>
              <a:rPr lang="ko-KR" altLang="en-US" sz="1250" b="0" i="0" dirty="0">
                <a:solidFill>
                  <a:srgbClr val="374151"/>
                </a:solidFill>
                <a:latin typeface="Malgun Gothic"/>
              </a:rPr>
              <a:t>춤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40156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401568" cy="91440"/>
          </a:xfrm>
          <a:prstGeom prst="roundRect">
            <a:avLst>
              <a:gd name="adj" fmla="val 0"/>
            </a:avLst>
          </a:prstGeom>
          <a:solidFill>
            <a:srgbClr val="B86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148840"/>
            <a:ext cx="28529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 i="0">
                <a:solidFill>
                  <a:srgbClr val="111111"/>
                </a:solidFill>
                <a:latin typeface="Malgun Gothic"/>
              </a:rPr>
              <a:t>미루기 · 포기 감소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2852928" cy="489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계획이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깨져도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처음부터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다시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짜지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않고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그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지점에서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이어</a:t>
            </a:r>
            <a:r>
              <a:rPr lang="ko-KR" altLang="en-US" sz="1250" b="0" i="0" dirty="0">
                <a:solidFill>
                  <a:srgbClr val="374151"/>
                </a:solidFill>
                <a:latin typeface="Malgun Gothic"/>
              </a:rPr>
              <a:t>감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783080"/>
            <a:ext cx="340156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92440" y="1783080"/>
            <a:ext cx="3401568" cy="91440"/>
          </a:xfrm>
          <a:prstGeom prst="roundRect">
            <a:avLst>
              <a:gd name="adj" fmla="val 0"/>
            </a:avLst>
          </a:prstGeom>
          <a:solidFill>
            <a:srgbClr val="31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148840"/>
            <a:ext cx="28529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 i="0">
                <a:solidFill>
                  <a:srgbClr val="111111"/>
                </a:solidFill>
                <a:latin typeface="Malgun Gothic"/>
              </a:rPr>
              <a:t>진도 가시성 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34640"/>
            <a:ext cx="2852928" cy="489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기간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경과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대비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실제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달성률을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한눈에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보여줘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조정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타이밍을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374151"/>
                </a:solidFill>
                <a:latin typeface="Malgun Gothic"/>
              </a:rPr>
              <a:t>놓치지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 않</a:t>
            </a:r>
            <a:r>
              <a:rPr lang="ko-KR" altLang="en-US" sz="1250" b="0" i="0" dirty="0">
                <a:solidFill>
                  <a:srgbClr val="374151"/>
                </a:solidFill>
                <a:latin typeface="Malgun Gothic"/>
              </a:rPr>
              <a:t>음</a:t>
            </a:r>
            <a:r>
              <a:rPr sz="1250" b="0" i="0" dirty="0">
                <a:solidFill>
                  <a:srgbClr val="374151"/>
                </a:solidFill>
                <a:latin typeface="Malgun Gothic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709160"/>
            <a:ext cx="10817352" cy="1051560"/>
          </a:xfrm>
          <a:prstGeom prst="roundRect">
            <a:avLst>
              <a:gd name="adj" fmla="val 9000"/>
            </a:avLst>
          </a:prstGeom>
          <a:solidFill>
            <a:srgbClr val="E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542BE"/>
                </a:solidFill>
                <a:latin typeface="Malgun Gothic"/>
              </a:rPr>
              <a:t>학술적 의의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892040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74151"/>
                </a:solidFill>
                <a:latin typeface="Malgun Gothic"/>
              </a:rPr>
              <a:t>자기조절학습(self-regulated learning)의 계획–실행–성찰 루프를 AI와의 짧은 인터랙션으로 구현해,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74151"/>
                </a:solidFill>
                <a:latin typeface="Malgun Gothic"/>
              </a:rPr>
              <a:t>일상적인 계획 관리에서도 실천 가능한 형태로 검증하는 것을 목표로 해요.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408615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898989"/>
                </a:solidFill>
                <a:latin typeface="Malgun Gothic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542BE"/>
                </a:solidFill>
                <a:latin typeface="Malgun Gothic"/>
              </a:rPr>
              <a:t>UI DESIGN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11111"/>
                </a:solidFill>
                <a:latin typeface="Malgun Gothic"/>
              </a:rPr>
              <a:t>오늘 화면 —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7452360" cy="4617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40000" dist="32000" dir="5400000" rotWithShape="0">
              <a:srgbClr val="1A1A1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6968" y="17465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88136" y="17465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89304" y="17465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lannerkk-to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" y="1984248"/>
            <a:ext cx="6510528" cy="4069080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8458200" y="1737360"/>
            <a:ext cx="73152" cy="1188720"/>
          </a:xfrm>
          <a:prstGeom prst="rect">
            <a:avLst/>
          </a:prstGeom>
          <a:solidFill>
            <a:srgbClr val="58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14232" y="173736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Malgun Gothic"/>
              </a:rPr>
              <a:t>타임라인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4232" y="2121408"/>
            <a:ext cx="2788920" cy="434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오늘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할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일을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배치하고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,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지금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(NOW)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위치를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표시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3154680"/>
            <a:ext cx="73152" cy="1188720"/>
          </a:xfrm>
          <a:prstGeom prst="rect">
            <a:avLst/>
          </a:prstGeom>
          <a:solidFill>
            <a:srgbClr val="B86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14232" y="31546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Malgun Gothic"/>
              </a:rPr>
              <a:t>빠른 체크인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4232" y="3538728"/>
            <a:ext cx="2788920" cy="434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dirty="0">
                <a:solidFill>
                  <a:srgbClr val="6B7280"/>
                </a:solidFill>
                <a:latin typeface="Malgun Gothic"/>
              </a:rPr>
              <a:t>첫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작업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아래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완료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·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일부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완료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·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미룸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버튼</a:t>
            </a:r>
            <a:r>
              <a:rPr lang="en-US"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lang="ko-KR" altLang="en-US" sz="1150" b="0" i="0" dirty="0">
                <a:solidFill>
                  <a:srgbClr val="6B7280"/>
                </a:solidFill>
                <a:latin typeface="Malgun Gothic"/>
              </a:rPr>
              <a:t>표시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4572000"/>
            <a:ext cx="73152" cy="1188720"/>
          </a:xfrm>
          <a:prstGeom prst="rect">
            <a:avLst/>
          </a:prstGeom>
          <a:solidFill>
            <a:srgbClr val="31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14232" y="45720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Malgun Gothic"/>
              </a:rPr>
              <a:t>AI 코치 패널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4956048"/>
            <a:ext cx="2788920" cy="434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계획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축소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,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최소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행동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제안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등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막힘을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바로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물어볼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수 있</a:t>
            </a:r>
            <a:r>
              <a:rPr lang="ko-KR" altLang="en-US" sz="1150" b="0" i="0" dirty="0">
                <a:solidFill>
                  <a:srgbClr val="6B7280"/>
                </a:solidFill>
                <a:latin typeface="Malgun Gothic"/>
              </a:rPr>
              <a:t>음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08615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898989"/>
                </a:solidFill>
                <a:latin typeface="Malgun Gothic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542BE"/>
                </a:solidFill>
                <a:latin typeface="Malgun Gothic"/>
              </a:rPr>
              <a:t>UI DESIGN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11111"/>
                </a:solidFill>
                <a:latin typeface="Malgun Gothic"/>
              </a:rPr>
              <a:t>캘린더 화면 — Calendar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7452360" cy="4617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40000" dist="32000" dir="5400000" rotWithShape="0">
              <a:srgbClr val="1A1A1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6968" y="17465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88136" y="17465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89304" y="17465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lannerkk-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" y="1984248"/>
            <a:ext cx="6510528" cy="4069080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8458200" y="1737360"/>
            <a:ext cx="73152" cy="1188720"/>
          </a:xfrm>
          <a:prstGeom prst="rect">
            <a:avLst/>
          </a:prstGeom>
          <a:solidFill>
            <a:srgbClr val="58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14232" y="173736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Malgun Gothic"/>
              </a:rPr>
              <a:t>월간 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4232" y="2121408"/>
            <a:ext cx="2788920" cy="20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날짜별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계획을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색상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태그로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한눈에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보여</a:t>
            </a:r>
            <a:r>
              <a:rPr lang="ko-KR" altLang="en-US" sz="1150" b="0" i="0" dirty="0">
                <a:solidFill>
                  <a:srgbClr val="6B7280"/>
                </a:solidFill>
                <a:latin typeface="Malgun Gothic"/>
              </a:rPr>
              <a:t>줌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3154680"/>
            <a:ext cx="73152" cy="1188720"/>
          </a:xfrm>
          <a:prstGeom prst="rect">
            <a:avLst/>
          </a:prstGeom>
          <a:solidFill>
            <a:srgbClr val="B86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14232" y="31546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Malgun Gothic"/>
              </a:rPr>
              <a:t>Day Note 패널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4232" y="3538728"/>
            <a:ext cx="2788920" cy="20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선택한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날짜의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계획을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확인하고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짧게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추가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4572000"/>
            <a:ext cx="73152" cy="1188720"/>
          </a:xfrm>
          <a:prstGeom prst="rect">
            <a:avLst/>
          </a:prstGeom>
          <a:solidFill>
            <a:srgbClr val="31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14232" y="45720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Malgun Gothic"/>
              </a:rPr>
              <a:t>AI 안내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4956048"/>
            <a:ext cx="2788920" cy="20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계획이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쌓이면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lang="ko-KR" altLang="en-US" sz="1150" b="0" i="0" dirty="0">
                <a:solidFill>
                  <a:srgbClr val="6B7280"/>
                </a:solidFill>
                <a:latin typeface="Malgun Gothic"/>
              </a:rPr>
              <a:t>축소</a:t>
            </a:r>
            <a:r>
              <a:rPr lang="en-US" altLang="ko-KR" sz="1150" b="0" i="0" dirty="0">
                <a:solidFill>
                  <a:srgbClr val="6B7280"/>
                </a:solidFill>
                <a:latin typeface="Malgun Gothic"/>
              </a:rPr>
              <a:t>(</a:t>
            </a:r>
            <a:r>
              <a:rPr lang="ko-KR" altLang="en-US" sz="1150" b="0" i="0" dirty="0">
                <a:solidFill>
                  <a:srgbClr val="6B7280"/>
                </a:solidFill>
                <a:latin typeface="Malgun Gothic"/>
              </a:rPr>
              <a:t>복구</a:t>
            </a:r>
            <a:r>
              <a:rPr lang="en-US" altLang="ko-KR" sz="1150" b="0" i="0" dirty="0">
                <a:solidFill>
                  <a:srgbClr val="6B7280"/>
                </a:solidFill>
                <a:latin typeface="Malgun Gothic"/>
              </a:rPr>
              <a:t>)</a:t>
            </a:r>
            <a:r>
              <a:rPr lang="ko-KR" altLang="en-US" sz="1150" b="0" i="0" dirty="0">
                <a:solidFill>
                  <a:srgbClr val="6B7280"/>
                </a:solidFill>
                <a:latin typeface="Malgun Gothic"/>
              </a:rPr>
              <a:t> 플랜 제시</a:t>
            </a:r>
            <a:r>
              <a:rPr lang="en-US" altLang="ko-KR" sz="1150" b="0" i="0" dirty="0">
                <a:solidFill>
                  <a:srgbClr val="6B7280"/>
                </a:solidFill>
                <a:latin typeface="Malgun Gothic"/>
              </a:rPr>
              <a:t>.</a:t>
            </a:r>
            <a:endParaRPr sz="1150" b="0" i="0" dirty="0">
              <a:solidFill>
                <a:srgbClr val="6B7280"/>
              </a:solidFill>
              <a:latin typeface="Malgun Gothic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08615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898989"/>
                </a:solidFill>
                <a:latin typeface="Malgun Gothic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542BE"/>
                </a:solidFill>
                <a:latin typeface="Malgun Gothic"/>
              </a:rPr>
              <a:t>UI DESIGN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11111"/>
                </a:solidFill>
                <a:latin typeface="Malgun Gothic"/>
              </a:rPr>
              <a:t>전체 계획 화면 — Portfolio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7452360" cy="4617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40000" dist="32000" dir="5400000" rotWithShape="0">
              <a:srgbClr val="1A1A1A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6968" y="17465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88136" y="17465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89304" y="17465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lannerkk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" y="1984248"/>
            <a:ext cx="6510528" cy="4069080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8458200" y="1737360"/>
            <a:ext cx="73152" cy="1188720"/>
          </a:xfrm>
          <a:prstGeom prst="rect">
            <a:avLst/>
          </a:prstGeom>
          <a:solidFill>
            <a:srgbClr val="58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14232" y="173736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Malgun Gothic"/>
              </a:rPr>
              <a:t>요약 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4232" y="2121408"/>
            <a:ext cx="2788920" cy="434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진행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중 ·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조정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필요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·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가용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시간을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상단에서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바로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확인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3154680"/>
            <a:ext cx="73152" cy="1188720"/>
          </a:xfrm>
          <a:prstGeom prst="rect">
            <a:avLst/>
          </a:prstGeom>
          <a:solidFill>
            <a:srgbClr val="B86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14232" y="31546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Malgun Gothic"/>
              </a:rPr>
              <a:t>진도 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4232" y="3538728"/>
            <a:ext cx="2788920" cy="434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기간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경과율과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실제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달성률을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막대로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나란히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비교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4572000"/>
            <a:ext cx="73152" cy="1188720"/>
          </a:xfrm>
          <a:prstGeom prst="rect">
            <a:avLst/>
          </a:prstGeom>
          <a:solidFill>
            <a:srgbClr val="31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14232" y="45720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Malgun Gothic"/>
              </a:rPr>
              <a:t>조정안 만들기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4956048"/>
            <a:ext cx="2788920" cy="434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위험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신호가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보이는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프로젝트는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AI가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바로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조정을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6B7280"/>
                </a:solidFill>
                <a:latin typeface="Malgun Gothic"/>
              </a:rPr>
              <a:t>제안</a:t>
            </a:r>
            <a:r>
              <a:rPr sz="1150" b="0" i="0" dirty="0">
                <a:solidFill>
                  <a:srgbClr val="6B7280"/>
                </a:solidFill>
                <a:latin typeface="Malgun Gothic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08615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898989"/>
                </a:solidFill>
                <a:latin typeface="Malgun Gothic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8F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75807" y="1737360"/>
            <a:ext cx="640080" cy="640080"/>
          </a:xfrm>
          <a:prstGeom prst="roundRect">
            <a:avLst>
              <a:gd name="adj" fmla="val 32000"/>
            </a:avLst>
          </a:prstGeom>
          <a:solidFill>
            <a:srgbClr val="58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A1A1AA"/>
                </a:solidFill>
                <a:latin typeface="Malgun Gothic"/>
              </a:rPr>
              <a:t>re:plan에 대한 질문을 자유롭게 해주세요.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2647" y="4297680"/>
            <a:ext cx="5486400" cy="12700"/>
          </a:xfrm>
          <a:prstGeom prst="rect">
            <a:avLst/>
          </a:prstGeom>
          <a:solidFill>
            <a:srgbClr val="34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688</Words>
  <Application>Microsoft Office PowerPoint</Application>
  <PresentationFormat>와이드스크린</PresentationFormat>
  <Paragraphs>146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최현우</cp:lastModifiedBy>
  <cp:revision>3</cp:revision>
  <dcterms:created xsi:type="dcterms:W3CDTF">2013-01-27T09:14:16Z</dcterms:created>
  <dcterms:modified xsi:type="dcterms:W3CDTF">2026-09-14T05:42:00Z</dcterms:modified>
  <cp:category/>
</cp:coreProperties>
</file>